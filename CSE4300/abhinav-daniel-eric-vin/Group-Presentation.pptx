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46"/>
  </p:notesMasterIdLst>
  <p:sldIdLst>
    <p:sldId id="256" r:id="rId2"/>
    <p:sldId id="307" r:id="rId3"/>
    <p:sldId id="300" r:id="rId4"/>
    <p:sldId id="257" r:id="rId5"/>
    <p:sldId id="308" r:id="rId6"/>
    <p:sldId id="262" r:id="rId7"/>
    <p:sldId id="285" r:id="rId8"/>
    <p:sldId id="286" r:id="rId9"/>
    <p:sldId id="287" r:id="rId10"/>
    <p:sldId id="288" r:id="rId11"/>
    <p:sldId id="273" r:id="rId12"/>
    <p:sldId id="282" r:id="rId13"/>
    <p:sldId id="309" r:id="rId14"/>
    <p:sldId id="263" r:id="rId15"/>
    <p:sldId id="310" r:id="rId16"/>
    <p:sldId id="264" r:id="rId17"/>
    <p:sldId id="289" r:id="rId18"/>
    <p:sldId id="290" r:id="rId19"/>
    <p:sldId id="291" r:id="rId20"/>
    <p:sldId id="292" r:id="rId21"/>
    <p:sldId id="293" r:id="rId22"/>
    <p:sldId id="294" r:id="rId23"/>
    <p:sldId id="298" r:id="rId24"/>
    <p:sldId id="311" r:id="rId25"/>
    <p:sldId id="265" r:id="rId26"/>
    <p:sldId id="283" r:id="rId27"/>
    <p:sldId id="284" r:id="rId28"/>
    <p:sldId id="276" r:id="rId29"/>
    <p:sldId id="312" r:id="rId30"/>
    <p:sldId id="266" r:id="rId31"/>
    <p:sldId id="301" r:id="rId32"/>
    <p:sldId id="302" r:id="rId33"/>
    <p:sldId id="303" r:id="rId34"/>
    <p:sldId id="318" r:id="rId35"/>
    <p:sldId id="304" r:id="rId36"/>
    <p:sldId id="305" r:id="rId37"/>
    <p:sldId id="313" r:id="rId38"/>
    <p:sldId id="278" r:id="rId39"/>
    <p:sldId id="299" r:id="rId40"/>
    <p:sldId id="267" r:id="rId41"/>
    <p:sldId id="314" r:id="rId42"/>
    <p:sldId id="315" r:id="rId43"/>
    <p:sldId id="316" r:id="rId44"/>
    <p:sldId id="317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D5D3"/>
    <a:srgbClr val="82CCCA"/>
    <a:srgbClr val="7EC4CF"/>
    <a:srgbClr val="6E77DF"/>
    <a:srgbClr val="8E95C0"/>
    <a:srgbClr val="6A73AC"/>
    <a:srgbClr val="FF8C00"/>
    <a:srgbClr val="FF3399"/>
    <a:srgbClr val="0AB49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71EDC-505E-6BFF-0FFC-7E6B6DF45B92}" v="3" dt="2025-11-15T07:59:00.230"/>
    <p1510:client id="{13470875-5E1C-0E4B-8AA0-823F8D00BC10}" v="27" dt="2025-11-15T18:25:12.156"/>
    <p1510:client id="{2D0A744B-0221-7145-B857-8EAA6E9379A6}" v="1" dt="2025-11-15T06:45:41.430"/>
    <p1510:client id="{7E8BBE22-0185-6043-9CD9-612B02F1037B}" v="943" dt="2025-11-15T22:45:29.740"/>
    <p1510:client id="{A310C28E-A610-234C-B459-EA2924841518}" v="109" dt="2025-11-15T18:18:47.406"/>
    <p1510:client id="{AD585D63-29D2-95A8-9B17-28CE4BADB88F}" v="489" dt="2025-11-15T08:00:54.106"/>
    <p1510:client id="{B4F18C50-CC62-2EB5-11AF-9161EB7009E9}" v="767" dt="2025-11-15T18:20:50.996"/>
    <p1510:client id="{FA3AA7E0-E05F-4E85-87E9-C746B0E773EC}" v="1304" dt="2025-11-15T21:58:43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7AC86-D380-4FA4-B13C-2EAB78D79577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DFC2F-2017-4897-A20D-15037D7AA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2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DFC2F-2017-4897-A20D-15037D7AAA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1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Anything placed in priority 1 should have the fairest and most even chance of running, so there’s round robin.</a:t>
            </a:r>
          </a:p>
          <a:p>
            <a:r>
              <a:rPr lang="en-US"/>
              <a:t>SRTCF is for tasks that are user-facing, but less interaction-based.</a:t>
            </a:r>
          </a:p>
          <a:p>
            <a:r>
              <a:rPr lang="en-US"/>
              <a:t>FIFO is good for slower-non-urgent tasks; we get the convoy effect for tasks of different sizes but it’s ok </a:t>
            </a:r>
            <a:r>
              <a:rPr lang="en-US" err="1"/>
              <a:t>bc</a:t>
            </a:r>
            <a:r>
              <a:rPr lang="en-US"/>
              <a:t> nothing is urgent here</a:t>
            </a:r>
          </a:p>
          <a:p>
            <a:r>
              <a:rPr lang="en-US"/>
              <a:t>SJF on the bottom suffers from starvation but once again it’s okay if it takes a long time to get to longer jobs because it’s whatever’s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DFC2F-2017-4897-A20D-15037D7AAA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47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Anything placed in priority 1 should have the fairest and most even chance of running, so there’s round robin.</a:t>
            </a:r>
          </a:p>
          <a:p>
            <a:r>
              <a:rPr lang="en-US"/>
              <a:t>SRTCF is for tasks that are user-facing, but less interaction-based.</a:t>
            </a:r>
          </a:p>
          <a:p>
            <a:r>
              <a:rPr lang="en-US"/>
              <a:t>FIFO is good for slower-non-urgent tasks; we get the convoy effect for tasks of different sizes but it’s ok </a:t>
            </a:r>
            <a:r>
              <a:rPr lang="en-US" err="1"/>
              <a:t>bc</a:t>
            </a:r>
            <a:r>
              <a:rPr lang="en-US"/>
              <a:t> nothing is urgent here</a:t>
            </a:r>
          </a:p>
          <a:p>
            <a:r>
              <a:rPr lang="en-US"/>
              <a:t>SJF on the bottom suffers from starvation but once again it’s okay if it takes a long time to get to longer jobs because it’s whatever’s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DFC2F-2017-4897-A20D-15037D7AAA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47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0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3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7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1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9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4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68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8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2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0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51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5F087044-3EF4-8CF3-006D-1BD02D1B5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F0AEC-69EB-5795-5FEF-BE448CA80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/>
              <a:t>Multilevel queue scheduler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709751-4ADF-B77B-B2BB-B6846E086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08" y="4417180"/>
            <a:ext cx="3633535" cy="2259877"/>
          </a:xfrm>
        </p:spPr>
        <p:txBody>
          <a:bodyPr anchor="ctr">
            <a:normAutofit/>
          </a:bodyPr>
          <a:lstStyle/>
          <a:p>
            <a:pPr algn="r"/>
            <a:r>
              <a:rPr lang="en-US"/>
              <a:t>Abhinav Hazarika</a:t>
            </a:r>
          </a:p>
          <a:p>
            <a:pPr algn="r"/>
            <a:r>
              <a:rPr lang="en-US"/>
              <a:t> Daniel Bokshan</a:t>
            </a:r>
          </a:p>
          <a:p>
            <a:pPr algn="r"/>
            <a:r>
              <a:rPr lang="en-US"/>
              <a:t> Eric Wang</a:t>
            </a:r>
          </a:p>
          <a:p>
            <a:pPr algn="r"/>
            <a:r>
              <a:rPr lang="en-US"/>
              <a:t>Vin Gluck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3789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Design Decisions</a:t>
            </a:r>
          </a:p>
        </p:txBody>
      </p:sp>
    </p:spTree>
    <p:extLst>
      <p:ext uri="{BB962C8B-B14F-4D97-AF65-F5344CB8AC3E}">
        <p14:creationId xmlns:p14="http://schemas.microsoft.com/office/powerpoint/2010/main" val="323798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A13E-8A8F-FE24-5BE1-BCC8B66C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MULTILEVEL QUEUE (OVERVIEW)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F15F5D-FB39-FAC0-6BDA-E3CAD760C2DF}"/>
              </a:ext>
            </a:extLst>
          </p:cNvPr>
          <p:cNvSpPr txBox="1">
            <a:spLocks/>
          </p:cNvSpPr>
          <p:nvPr/>
        </p:nvSpPr>
        <p:spPr>
          <a:xfrm>
            <a:off x="6624883" y="1876069"/>
            <a:ext cx="5180069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Reasoning:</a:t>
            </a:r>
          </a:p>
          <a:p>
            <a:r>
              <a:rPr lang="en-US" sz="1800"/>
              <a:t>Most important processes will get completed efficiently</a:t>
            </a:r>
          </a:p>
          <a:p>
            <a:r>
              <a:rPr lang="en-US" sz="1800"/>
              <a:t>Behavior is predictable</a:t>
            </a:r>
          </a:p>
          <a:p>
            <a:r>
              <a:rPr lang="en-US" sz="1800"/>
              <a:t>FIFO and SJF queues allow for specified task ordering</a:t>
            </a:r>
          </a:p>
          <a:p>
            <a:r>
              <a:rPr lang="en-US" sz="1800"/>
              <a:t>Different queues minimize overhead</a:t>
            </a:r>
          </a:p>
          <a:p>
            <a:endParaRPr lang="en-US" sz="18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D6EBF4-2E56-E7EB-19B8-72D841E81D58}"/>
              </a:ext>
            </a:extLst>
          </p:cNvPr>
          <p:cNvCxnSpPr/>
          <p:nvPr/>
        </p:nvCxnSpPr>
        <p:spPr>
          <a:xfrm>
            <a:off x="6478210" y="1717524"/>
            <a:ext cx="0" cy="42782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6FC4C2-A074-A464-9C6A-B818066B6360}"/>
              </a:ext>
            </a:extLst>
          </p:cNvPr>
          <p:cNvSpPr>
            <a:spLocks noGrp="1"/>
          </p:cNvSpPr>
          <p:nvPr/>
        </p:nvSpPr>
        <p:spPr>
          <a:xfrm>
            <a:off x="700635" y="1876069"/>
            <a:ext cx="5924248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Order of Queues:</a:t>
            </a:r>
          </a:p>
          <a:p>
            <a:pPr lvl="1"/>
            <a:r>
              <a:rPr lang="en-US" sz="1600"/>
              <a:t>Round Robin</a:t>
            </a:r>
            <a:r>
              <a:rPr lang="en-US"/>
              <a:t> (RR)</a:t>
            </a:r>
          </a:p>
          <a:p>
            <a:pPr lvl="1"/>
            <a:r>
              <a:rPr lang="en-US" sz="1600"/>
              <a:t>Shortest Time Remaining First (STRF)</a:t>
            </a:r>
          </a:p>
          <a:p>
            <a:pPr lvl="1"/>
            <a:r>
              <a:rPr lang="en-US" sz="1600"/>
              <a:t>First in First Out (FIFO)</a:t>
            </a:r>
          </a:p>
          <a:p>
            <a:pPr lvl="1"/>
            <a:r>
              <a:rPr lang="en-US" sz="1600"/>
              <a:t>Shortest Job First (SJF)</a:t>
            </a:r>
          </a:p>
        </p:txBody>
      </p:sp>
    </p:spTree>
    <p:extLst>
      <p:ext uri="{BB962C8B-B14F-4D97-AF65-F5344CB8AC3E}">
        <p14:creationId xmlns:p14="http://schemas.microsoft.com/office/powerpoint/2010/main" val="345858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A13E-8A8F-FE24-5BE1-BCC8B66C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 of the queues/Priority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B61C-B8B0-5525-F80F-0A290116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7" y="1678819"/>
            <a:ext cx="5924248" cy="4316936"/>
          </a:xfrm>
        </p:spPr>
        <p:txBody>
          <a:bodyPr>
            <a:normAutofit/>
          </a:bodyPr>
          <a:lstStyle/>
          <a:p>
            <a:r>
              <a:rPr lang="en-US" sz="1800"/>
              <a:t>Round Robin is “fairest” and preemptive</a:t>
            </a:r>
          </a:p>
          <a:p>
            <a:pPr lvl="1"/>
            <a:r>
              <a:rPr lang="en-US"/>
              <a:t>Tasks like </a:t>
            </a:r>
            <a:r>
              <a:rPr lang="en-US" err="1"/>
              <a:t>ui</a:t>
            </a:r>
            <a:r>
              <a:rPr lang="en-US"/>
              <a:t>, drivers and real-time work</a:t>
            </a:r>
          </a:p>
          <a:p>
            <a:r>
              <a:rPr lang="en-US" sz="1800"/>
              <a:t>SRTCF optimizes for shorter jobs but still preemptive</a:t>
            </a:r>
          </a:p>
          <a:p>
            <a:pPr lvl="1"/>
            <a:r>
              <a:rPr lang="en-US"/>
              <a:t>System tasks that affect the user a lot; drivers, network connection handling, </a:t>
            </a:r>
            <a:r>
              <a:rPr lang="en-US" err="1"/>
              <a:t>etc</a:t>
            </a:r>
            <a:endParaRPr lang="en-US"/>
          </a:p>
          <a:p>
            <a:r>
              <a:rPr lang="en-US" sz="1800"/>
              <a:t>FIFO</a:t>
            </a:r>
          </a:p>
          <a:p>
            <a:pPr lvl="1"/>
            <a:r>
              <a:rPr lang="en-US"/>
              <a:t>Slower, non-urgent tasks like file </a:t>
            </a:r>
            <a:r>
              <a:rPr lang="en-US" err="1"/>
              <a:t>i</a:t>
            </a:r>
            <a:r>
              <a:rPr lang="en-US"/>
              <a:t>/o</a:t>
            </a:r>
          </a:p>
          <a:p>
            <a:r>
              <a:rPr lang="en-US" sz="1800"/>
              <a:t>SJF</a:t>
            </a:r>
          </a:p>
          <a:p>
            <a:pPr lvl="1"/>
            <a:r>
              <a:rPr lang="en-US"/>
              <a:t>Whatever is left; complete the most jobs possible in a short time. Long tasks left here may starve but it’s low priority so it’s okay</a:t>
            </a:r>
          </a:p>
          <a:p>
            <a:endParaRPr lang="en-US" sz="1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F15F5D-FB39-FAC0-6BDA-E3CAD760C2DF}"/>
              </a:ext>
            </a:extLst>
          </p:cNvPr>
          <p:cNvSpPr txBox="1">
            <a:spLocks/>
          </p:cNvSpPr>
          <p:nvPr/>
        </p:nvSpPr>
        <p:spPr>
          <a:xfrm>
            <a:off x="6624883" y="1876069"/>
            <a:ext cx="5180069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1800"/>
              <a:t>Round Robin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SRTCF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FIFO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SJF</a:t>
            </a:r>
          </a:p>
          <a:p>
            <a:pPr marL="457200" indent="-457200">
              <a:buFont typeface="+mj-lt"/>
              <a:buAutoNum type="arabicPeriod"/>
            </a:pPr>
            <a:endParaRPr lang="en-US" sz="1800"/>
          </a:p>
          <a:p>
            <a:pPr marL="457200" indent="-457200">
              <a:buFont typeface="+mj-lt"/>
              <a:buAutoNum type="arabicPeriod"/>
            </a:pPr>
            <a:endParaRPr lang="en-US" sz="1800"/>
          </a:p>
          <a:p>
            <a:pPr marL="457200" indent="-457200">
              <a:buFont typeface="+mj-lt"/>
              <a:buAutoNum type="arabicPeriod"/>
            </a:pPr>
            <a:endParaRPr lang="en-US" sz="1800"/>
          </a:p>
          <a:p>
            <a:pPr marL="0" indent="0">
              <a:buNone/>
            </a:pPr>
            <a:r>
              <a:rPr lang="en-US" sz="1800"/>
              <a:t>** FIFO and SJF can still be interrupted by a higher-priority queue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D6EBF4-2E56-E7EB-19B8-72D841E81D58}"/>
              </a:ext>
            </a:extLst>
          </p:cNvPr>
          <p:cNvCxnSpPr/>
          <p:nvPr/>
        </p:nvCxnSpPr>
        <p:spPr>
          <a:xfrm>
            <a:off x="6478210" y="1717524"/>
            <a:ext cx="0" cy="42782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656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Schedule-Main</a:t>
            </a:r>
          </a:p>
        </p:txBody>
      </p:sp>
    </p:spTree>
    <p:extLst>
      <p:ext uri="{BB962C8B-B14F-4D97-AF65-F5344CB8AC3E}">
        <p14:creationId xmlns:p14="http://schemas.microsoft.com/office/powerpoint/2010/main" val="175175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07F4-0848-9FF5-176D-CFC4FA3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7B08C-2693-5B08-44A1-E446560C6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Schedule-main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B7CAC-8D9E-82DA-DD62-33D9F1630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38184-307A-61B2-3E47-A836E798E076}"/>
              </a:ext>
            </a:extLst>
          </p:cNvPr>
          <p:cNvSpPr txBox="1"/>
          <p:nvPr/>
        </p:nvSpPr>
        <p:spPr>
          <a:xfrm>
            <a:off x="4623172" y="2020045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23DC0-4F26-174D-FEA9-8F3D0F4EFC06}"/>
              </a:ext>
            </a:extLst>
          </p:cNvPr>
          <p:cNvSpPr txBox="1"/>
          <p:nvPr/>
        </p:nvSpPr>
        <p:spPr>
          <a:xfrm>
            <a:off x="4659458" y="2794338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21284-C3DB-8012-6C83-3D61781AB7EA}"/>
              </a:ext>
            </a:extLst>
          </p:cNvPr>
          <p:cNvSpPr txBox="1"/>
          <p:nvPr/>
        </p:nvSpPr>
        <p:spPr>
          <a:xfrm>
            <a:off x="4692923" y="356332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510C6-B5BC-9261-22D7-2E15592DF813}"/>
              </a:ext>
            </a:extLst>
          </p:cNvPr>
          <p:cNvSpPr txBox="1"/>
          <p:nvPr/>
        </p:nvSpPr>
        <p:spPr>
          <a:xfrm>
            <a:off x="4709522" y="438159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79064-1793-74C0-28E5-53DF4E5D4730}"/>
              </a:ext>
            </a:extLst>
          </p:cNvPr>
          <p:cNvSpPr txBox="1"/>
          <p:nvPr/>
        </p:nvSpPr>
        <p:spPr>
          <a:xfrm>
            <a:off x="4402667" y="2135125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ADEAC-F5B0-7235-3804-6F38279DDA83}"/>
              </a:ext>
            </a:extLst>
          </p:cNvPr>
          <p:cNvSpPr txBox="1"/>
          <p:nvPr/>
        </p:nvSpPr>
        <p:spPr>
          <a:xfrm>
            <a:off x="4411980" y="2937116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88186D-56F4-8031-FC81-0498AAC02D31}"/>
              </a:ext>
            </a:extLst>
          </p:cNvPr>
          <p:cNvSpPr txBox="1"/>
          <p:nvPr/>
        </p:nvSpPr>
        <p:spPr>
          <a:xfrm>
            <a:off x="4438953" y="3712771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670D6-9570-9F52-62C6-DDAF8D83AF73}"/>
              </a:ext>
            </a:extLst>
          </p:cNvPr>
          <p:cNvSpPr txBox="1"/>
          <p:nvPr/>
        </p:nvSpPr>
        <p:spPr>
          <a:xfrm>
            <a:off x="4438953" y="4530627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1604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2554-303E-75C3-9AF1-9EF40C9B1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1099-F029-CF1C-8772-967F6559B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Schedule-main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9FEBA-04E1-9D72-044A-F4AEB0A4CE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1FC39-F13B-E44C-0FA9-BEB8AA37B6E0}"/>
              </a:ext>
            </a:extLst>
          </p:cNvPr>
          <p:cNvSpPr txBox="1"/>
          <p:nvPr/>
        </p:nvSpPr>
        <p:spPr>
          <a:xfrm>
            <a:off x="4623172" y="2020045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00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3C1A9-ECF1-C018-9C12-4B85836ECFD2}"/>
              </a:ext>
            </a:extLst>
          </p:cNvPr>
          <p:cNvSpPr txBox="1"/>
          <p:nvPr/>
        </p:nvSpPr>
        <p:spPr>
          <a:xfrm>
            <a:off x="4659458" y="2794338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5B266-94C6-7BE6-4079-913E4F967D29}"/>
              </a:ext>
            </a:extLst>
          </p:cNvPr>
          <p:cNvSpPr txBox="1"/>
          <p:nvPr/>
        </p:nvSpPr>
        <p:spPr>
          <a:xfrm>
            <a:off x="4692923" y="356332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7EF6F-A360-730D-86B7-46F14BF55D80}"/>
              </a:ext>
            </a:extLst>
          </p:cNvPr>
          <p:cNvSpPr txBox="1"/>
          <p:nvPr/>
        </p:nvSpPr>
        <p:spPr>
          <a:xfrm>
            <a:off x="4709522" y="438159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687C2-C9C8-AD0A-F4C8-857681E66B7C}"/>
              </a:ext>
            </a:extLst>
          </p:cNvPr>
          <p:cNvSpPr txBox="1"/>
          <p:nvPr/>
        </p:nvSpPr>
        <p:spPr>
          <a:xfrm>
            <a:off x="4402667" y="2135125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D238E-1721-D782-EA74-DF9CB7D25ACE}"/>
              </a:ext>
            </a:extLst>
          </p:cNvPr>
          <p:cNvSpPr txBox="1"/>
          <p:nvPr/>
        </p:nvSpPr>
        <p:spPr>
          <a:xfrm>
            <a:off x="4411980" y="2937116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CE8FE-F6AC-FE81-E390-47655B7CDC8F}"/>
              </a:ext>
            </a:extLst>
          </p:cNvPr>
          <p:cNvSpPr txBox="1"/>
          <p:nvPr/>
        </p:nvSpPr>
        <p:spPr>
          <a:xfrm>
            <a:off x="4438953" y="3712771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E0A27-AE15-FD3A-4B75-20795D315935}"/>
              </a:ext>
            </a:extLst>
          </p:cNvPr>
          <p:cNvSpPr txBox="1"/>
          <p:nvPr/>
        </p:nvSpPr>
        <p:spPr>
          <a:xfrm>
            <a:off x="4438953" y="4530627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037681-2C71-C24A-44BC-572AA044F919}"/>
              </a:ext>
            </a:extLst>
          </p:cNvPr>
          <p:cNvCxnSpPr/>
          <p:nvPr/>
        </p:nvCxnSpPr>
        <p:spPr>
          <a:xfrm>
            <a:off x="2835124" y="2356152"/>
            <a:ext cx="14465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79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64E7-00F3-A50D-1132-0581FF24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7BAD-D9C3-D908-9469-3BB6E7A9B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Schedule-main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D7758-2D4C-A893-7083-F5B02C826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74159-AF2B-2A69-0B6A-BDD38B15C5CB}"/>
              </a:ext>
            </a:extLst>
          </p:cNvPr>
          <p:cNvSpPr txBox="1"/>
          <p:nvPr/>
        </p:nvSpPr>
        <p:spPr>
          <a:xfrm>
            <a:off x="4623172" y="2020045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[0, 0, 0, 0, 0, 0, 0, 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488F4-3B90-F62D-D0BF-F5951C239E76}"/>
              </a:ext>
            </a:extLst>
          </p:cNvPr>
          <p:cNvSpPr txBox="1"/>
          <p:nvPr/>
        </p:nvSpPr>
        <p:spPr>
          <a:xfrm>
            <a:off x="4659458" y="2794338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37B99-B36A-6DFC-0812-4EFCD076AC9A}"/>
              </a:ext>
            </a:extLst>
          </p:cNvPr>
          <p:cNvSpPr txBox="1"/>
          <p:nvPr/>
        </p:nvSpPr>
        <p:spPr>
          <a:xfrm>
            <a:off x="4692923" y="356332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64173-ACF9-F824-147E-DF50EC9F1529}"/>
              </a:ext>
            </a:extLst>
          </p:cNvPr>
          <p:cNvSpPr txBox="1"/>
          <p:nvPr/>
        </p:nvSpPr>
        <p:spPr>
          <a:xfrm>
            <a:off x="4709522" y="438159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4378B-A43E-BFE9-B395-E081E53C14AD}"/>
              </a:ext>
            </a:extLst>
          </p:cNvPr>
          <p:cNvSpPr txBox="1"/>
          <p:nvPr/>
        </p:nvSpPr>
        <p:spPr>
          <a:xfrm>
            <a:off x="4402667" y="2135125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4150C4-D778-3C73-EFB4-AAE0AB60BFBD}"/>
              </a:ext>
            </a:extLst>
          </p:cNvPr>
          <p:cNvSpPr txBox="1"/>
          <p:nvPr/>
        </p:nvSpPr>
        <p:spPr>
          <a:xfrm>
            <a:off x="4411980" y="2937116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D5106-6498-40AE-FCFE-1B00A984027F}"/>
              </a:ext>
            </a:extLst>
          </p:cNvPr>
          <p:cNvSpPr txBox="1"/>
          <p:nvPr/>
        </p:nvSpPr>
        <p:spPr>
          <a:xfrm>
            <a:off x="4438953" y="3712771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11C6F-8D6D-D1BD-785E-C301B86A0D55}"/>
              </a:ext>
            </a:extLst>
          </p:cNvPr>
          <p:cNvSpPr txBox="1"/>
          <p:nvPr/>
        </p:nvSpPr>
        <p:spPr>
          <a:xfrm>
            <a:off x="4438953" y="4530627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AEB0C2-E8BC-F2B7-C39B-58533691EEF7}"/>
              </a:ext>
            </a:extLst>
          </p:cNvPr>
          <p:cNvCxnSpPr/>
          <p:nvPr/>
        </p:nvCxnSpPr>
        <p:spPr>
          <a:xfrm>
            <a:off x="2835124" y="2356152"/>
            <a:ext cx="14465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303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CFF6-6D1C-F8C4-89ED-825E24EF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0628-604D-C709-0D08-2F491F3A4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Schedule-main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4EC96-E3B4-1161-3E71-841055D7EF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FC2F4-DE1B-8ECA-E2DD-6EFB96789CF6}"/>
              </a:ext>
            </a:extLst>
          </p:cNvPr>
          <p:cNvSpPr txBox="1"/>
          <p:nvPr/>
        </p:nvSpPr>
        <p:spPr>
          <a:xfrm>
            <a:off x="4623172" y="2020045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[0, 0, 0, 0, 0, 0, 0, 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919B6-D0D4-59D3-74BA-34BFE34C9FE7}"/>
              </a:ext>
            </a:extLst>
          </p:cNvPr>
          <p:cNvSpPr txBox="1"/>
          <p:nvPr/>
        </p:nvSpPr>
        <p:spPr>
          <a:xfrm>
            <a:off x="4659458" y="2794338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FF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1BC1A-B040-B198-523A-DD95300BB2C8}"/>
              </a:ext>
            </a:extLst>
          </p:cNvPr>
          <p:cNvSpPr txBox="1"/>
          <p:nvPr/>
        </p:nvSpPr>
        <p:spPr>
          <a:xfrm>
            <a:off x="4692923" y="356332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1F4C3A-8BD2-188D-70FF-D194B39C6FC2}"/>
              </a:ext>
            </a:extLst>
          </p:cNvPr>
          <p:cNvSpPr txBox="1"/>
          <p:nvPr/>
        </p:nvSpPr>
        <p:spPr>
          <a:xfrm>
            <a:off x="4709522" y="438159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BEE744-57CC-9467-052C-F4192CE457C3}"/>
              </a:ext>
            </a:extLst>
          </p:cNvPr>
          <p:cNvSpPr txBox="1"/>
          <p:nvPr/>
        </p:nvSpPr>
        <p:spPr>
          <a:xfrm>
            <a:off x="4402667" y="2135125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453D3-46AF-7164-3604-75F3D2C9E176}"/>
              </a:ext>
            </a:extLst>
          </p:cNvPr>
          <p:cNvSpPr txBox="1"/>
          <p:nvPr/>
        </p:nvSpPr>
        <p:spPr>
          <a:xfrm>
            <a:off x="4411980" y="2937116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FEEF7-5DED-4195-BF59-5B925665A4B5}"/>
              </a:ext>
            </a:extLst>
          </p:cNvPr>
          <p:cNvSpPr txBox="1"/>
          <p:nvPr/>
        </p:nvSpPr>
        <p:spPr>
          <a:xfrm>
            <a:off x="4438953" y="3712771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E3517-9DD6-732D-E5B6-157AD39F3B50}"/>
              </a:ext>
            </a:extLst>
          </p:cNvPr>
          <p:cNvSpPr txBox="1"/>
          <p:nvPr/>
        </p:nvSpPr>
        <p:spPr>
          <a:xfrm>
            <a:off x="4438953" y="4530627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151655-EEE2-5DB2-CFF9-8801BD4F441F}"/>
              </a:ext>
            </a:extLst>
          </p:cNvPr>
          <p:cNvCxnSpPr/>
          <p:nvPr/>
        </p:nvCxnSpPr>
        <p:spPr>
          <a:xfrm>
            <a:off x="2806096" y="3096380"/>
            <a:ext cx="14465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52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12E6-793B-61D1-4795-A8FC2A5B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33B0-DE29-F322-5574-0AABAFCE38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Schedule-main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C73FB-8E8F-C0C9-DCED-340171F23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2CD91-CCD0-F254-5A60-C25E2C5996BF}"/>
              </a:ext>
            </a:extLst>
          </p:cNvPr>
          <p:cNvSpPr txBox="1"/>
          <p:nvPr/>
        </p:nvSpPr>
        <p:spPr>
          <a:xfrm>
            <a:off x="4623172" y="2020045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[0, 0, 0, 0, 0, 0, 0, 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7F309-D4C3-E440-A198-22AB3A4B742F}"/>
              </a:ext>
            </a:extLst>
          </p:cNvPr>
          <p:cNvSpPr txBox="1"/>
          <p:nvPr/>
        </p:nvSpPr>
        <p:spPr>
          <a:xfrm>
            <a:off x="4659458" y="2794338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[0, 0, 0, 0, 0, 0, 0, 0]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3F4C0-6C70-FE0B-351F-00A59044574D}"/>
              </a:ext>
            </a:extLst>
          </p:cNvPr>
          <p:cNvSpPr txBox="1"/>
          <p:nvPr/>
        </p:nvSpPr>
        <p:spPr>
          <a:xfrm>
            <a:off x="4692923" y="356332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360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C01E7-95F6-61A6-9DB5-4CA1975D387D}"/>
              </a:ext>
            </a:extLst>
          </p:cNvPr>
          <p:cNvSpPr txBox="1"/>
          <p:nvPr/>
        </p:nvSpPr>
        <p:spPr>
          <a:xfrm>
            <a:off x="4709522" y="4381590"/>
            <a:ext cx="699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3600">
                <a:highlight>
                  <a:srgbClr val="00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36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0, 0, 0, 0, 0, 0, 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16E69-9D63-2753-2396-E63BCAB70F24}"/>
              </a:ext>
            </a:extLst>
          </p:cNvPr>
          <p:cNvSpPr txBox="1"/>
          <p:nvPr/>
        </p:nvSpPr>
        <p:spPr>
          <a:xfrm>
            <a:off x="4402667" y="2135125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ACE34-637C-7C9B-CBAC-BCE64286F4E0}"/>
              </a:ext>
            </a:extLst>
          </p:cNvPr>
          <p:cNvSpPr txBox="1"/>
          <p:nvPr/>
        </p:nvSpPr>
        <p:spPr>
          <a:xfrm>
            <a:off x="4411980" y="2937116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5A2A94-DF4C-C035-522D-1712A9A69A31}"/>
              </a:ext>
            </a:extLst>
          </p:cNvPr>
          <p:cNvSpPr txBox="1"/>
          <p:nvPr/>
        </p:nvSpPr>
        <p:spPr>
          <a:xfrm>
            <a:off x="4438953" y="3712771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F2A29-1555-12CD-5F77-5FAA6CBEA046}"/>
              </a:ext>
            </a:extLst>
          </p:cNvPr>
          <p:cNvSpPr txBox="1"/>
          <p:nvPr/>
        </p:nvSpPr>
        <p:spPr>
          <a:xfrm>
            <a:off x="4438953" y="4530627"/>
            <a:ext cx="44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A9AE6F-5CFE-98A1-14FE-942A522C7514}"/>
              </a:ext>
            </a:extLst>
          </p:cNvPr>
          <p:cNvCxnSpPr/>
          <p:nvPr/>
        </p:nvCxnSpPr>
        <p:spPr>
          <a:xfrm>
            <a:off x="2806096" y="3904342"/>
            <a:ext cx="14465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18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CCE2D0-3CF1-1953-34B1-B0F2E9D55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9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171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A016-FF37-42B8-4CDF-FA692078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CEC0224-F510-CD69-2402-CF4F1BE21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9859" y="3734840"/>
            <a:ext cx="5417805" cy="2491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BA7EDD-F64D-4FEA-7AF9-AEAFBB7BE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1" y="135370"/>
            <a:ext cx="6514393" cy="859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185EA2-6D57-04C6-CA15-BA0CD2D9D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1" y="1081164"/>
            <a:ext cx="6514392" cy="5347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684AE2-8BC9-4789-EDAA-72E06AB79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859" y="613584"/>
            <a:ext cx="5447390" cy="303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60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Round robin</a:t>
            </a:r>
          </a:p>
        </p:txBody>
      </p:sp>
    </p:spTree>
    <p:extLst>
      <p:ext uri="{BB962C8B-B14F-4D97-AF65-F5344CB8AC3E}">
        <p14:creationId xmlns:p14="http://schemas.microsoft.com/office/powerpoint/2010/main" val="3996883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3D833-DE3B-5FF3-9E5B-EBC9C520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6BFB3-5E74-1B58-2F66-CEA1B7213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259624"/>
            <a:ext cx="6991776" cy="531575"/>
          </a:xfrm>
        </p:spPr>
        <p:txBody>
          <a:bodyPr/>
          <a:lstStyle/>
          <a:p>
            <a:r>
              <a:rPr lang="en-US"/>
              <a:t>Eric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5AE23CD-AD6E-FD91-FC04-2B136F41E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11325122" cy="976671"/>
          </a:xfrm>
        </p:spPr>
        <p:txBody>
          <a:bodyPr>
            <a:normAutofit/>
          </a:bodyPr>
          <a:lstStyle/>
          <a:p>
            <a:r>
              <a:rPr lang="en-US"/>
              <a:t>Round Robin </a:t>
            </a:r>
            <a:r>
              <a:rPr lang="en-US">
                <a:solidFill>
                  <a:srgbClr val="000000"/>
                </a:solidFill>
              </a:rPr>
              <a:t>   </a:t>
            </a:r>
            <a:endParaRPr lang="en-US" sz="200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44C84-F04D-872E-845D-A456A1A2C90D}"/>
              </a:ext>
            </a:extLst>
          </p:cNvPr>
          <p:cNvSpPr txBox="1"/>
          <p:nvPr/>
        </p:nvSpPr>
        <p:spPr>
          <a:xfrm>
            <a:off x="2614487" y="3019113"/>
            <a:ext cx="407317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/>
              <a:t>[A, B, C, D, E]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6C16D-1D75-5D0C-F874-F8A1F575AE6C}"/>
              </a:ext>
            </a:extLst>
          </p:cNvPr>
          <p:cNvSpPr txBox="1"/>
          <p:nvPr/>
        </p:nvSpPr>
        <p:spPr>
          <a:xfrm>
            <a:off x="704490" y="186186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0" i="0" u="none" strike="noStrike" cap="all" baseline="0">
                <a:solidFill>
                  <a:srgbClr val="0070C0"/>
                </a:solidFill>
                <a:latin typeface="Univers Condensed"/>
              </a:rPr>
              <a:t>Time Quantum: 1    </a:t>
            </a:r>
            <a:r>
              <a:rPr lang="en-US" sz="1800" b="0" i="0" u="none" strike="noStrike" cap="all" baseline="0">
                <a:solidFill>
                  <a:srgbClr val="FF8C00"/>
                </a:solidFill>
                <a:latin typeface="Univers Condensed"/>
              </a:rPr>
              <a:t>Quantum remaining: 1</a:t>
            </a:r>
            <a:r>
              <a:rPr lang="en-US" sz="1800" b="0" i="0" u="none" strike="noStrike" cap="all" baseline="0">
                <a:solidFill>
                  <a:srgbClr val="FFC000"/>
                </a:solidFill>
                <a:latin typeface="Univers Condensed"/>
              </a:rPr>
              <a:t>    </a:t>
            </a:r>
            <a:r>
              <a:rPr lang="en-US" sz="1800" b="0" i="0" u="none" strike="noStrike" cap="all" baseline="0">
                <a:solidFill>
                  <a:srgbClr val="00B050"/>
                </a:solidFill>
                <a:latin typeface="Univers Condensed"/>
              </a:rPr>
              <a:t>Counter: 0</a:t>
            </a:r>
            <a:r>
              <a:rPr lang="en-US" sz="1800" b="0" i="0" u="none" strike="noStrike" cap="all" baseline="0">
                <a:solidFill>
                  <a:srgbClr val="000000"/>
                </a:solidFill>
                <a:latin typeface="Univers Condensed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5866F2-5A1F-C930-AD35-1A6EBA723B0C}"/>
              </a:ext>
            </a:extLst>
          </p:cNvPr>
          <p:cNvSpPr txBox="1"/>
          <p:nvPr/>
        </p:nvSpPr>
        <p:spPr>
          <a:xfrm>
            <a:off x="704489" y="2667000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         10          3           5          4           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827B207-BA76-7BEF-1BA8-73CA3879D865}"/>
              </a:ext>
            </a:extLst>
          </p:cNvPr>
          <p:cNvGrpSpPr/>
          <p:nvPr/>
        </p:nvGrpSpPr>
        <p:grpSpPr>
          <a:xfrm>
            <a:off x="5918832" y="938538"/>
            <a:ext cx="2514526" cy="1499862"/>
            <a:chOff x="5918832" y="938538"/>
            <a:chExt cx="2514526" cy="149986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568B250-1CC2-16BE-7A9F-EEB9CF3F2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3774" y="2222022"/>
              <a:ext cx="0" cy="21637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61F21D1-C3C6-2C57-4FD3-DFE1ABC8A615}"/>
                </a:ext>
              </a:extLst>
            </p:cNvPr>
            <p:cNvCxnSpPr>
              <a:cxnSpLocks/>
            </p:cNvCxnSpPr>
            <p:nvPr/>
          </p:nvCxnSpPr>
          <p:spPr>
            <a:xfrm>
              <a:off x="5918832" y="2438400"/>
              <a:ext cx="1792224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001906-69A6-CB00-CE97-8EA26581A8C4}"/>
                </a:ext>
              </a:extLst>
            </p:cNvPr>
            <p:cNvSpPr txBox="1"/>
            <p:nvPr/>
          </p:nvSpPr>
          <p:spPr>
            <a:xfrm>
              <a:off x="6965043" y="938538"/>
              <a:ext cx="1468315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00B050"/>
                  </a:solidFill>
                </a:rPr>
                <a:t>Tracks the current process turn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3A7860E-EB72-459B-996D-FB273F35E078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7699200" y="1861868"/>
              <a:ext cx="1" cy="569854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95A2AB0-7561-B035-7126-EFF34A7AD5F7}"/>
              </a:ext>
            </a:extLst>
          </p:cNvPr>
          <p:cNvGrpSpPr/>
          <p:nvPr/>
        </p:nvGrpSpPr>
        <p:grpSpPr>
          <a:xfrm>
            <a:off x="3873215" y="916490"/>
            <a:ext cx="7150379" cy="1591709"/>
            <a:chOff x="3873215" y="916490"/>
            <a:chExt cx="7150379" cy="1591709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4C1605E-DC12-C6C2-4153-2E451F464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8205" y="2222022"/>
              <a:ext cx="0" cy="286177"/>
            </a:xfrm>
            <a:prstGeom prst="straightConnector1">
              <a:avLst/>
            </a:prstGeom>
            <a:ln w="28575">
              <a:solidFill>
                <a:srgbClr val="FF8C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282E01B-B670-F832-76DB-B0FD1141D433}"/>
                </a:ext>
              </a:extLst>
            </p:cNvPr>
            <p:cNvCxnSpPr>
              <a:cxnSpLocks/>
            </p:cNvCxnSpPr>
            <p:nvPr/>
          </p:nvCxnSpPr>
          <p:spPr>
            <a:xfrm>
              <a:off x="3873215" y="2502204"/>
              <a:ext cx="6007608" cy="0"/>
            </a:xfrm>
            <a:prstGeom prst="line">
              <a:avLst/>
            </a:prstGeom>
            <a:ln w="28575">
              <a:solidFill>
                <a:srgbClr val="FF8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56FC09-A70A-E653-F7A5-FA5EAD527492}"/>
                </a:ext>
              </a:extLst>
            </p:cNvPr>
            <p:cNvSpPr txBox="1"/>
            <p:nvPr/>
          </p:nvSpPr>
          <p:spPr>
            <a:xfrm>
              <a:off x="8714013" y="916490"/>
              <a:ext cx="2309581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8C00"/>
                  </a:solidFill>
                </a:rPr>
                <a:t>Tracks the remaining time before moving onto another process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5CE552A-30A7-B7FC-9E6D-4E842A3BF76B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9868804" y="1839820"/>
              <a:ext cx="0" cy="662384"/>
            </a:xfrm>
            <a:prstGeom prst="straightConnector1">
              <a:avLst/>
            </a:prstGeom>
            <a:ln w="28575">
              <a:solidFill>
                <a:srgbClr val="FF8C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A4BECD9-7006-BB09-D8E9-E4A400AD0C30}"/>
              </a:ext>
            </a:extLst>
          </p:cNvPr>
          <p:cNvGrpSpPr/>
          <p:nvPr/>
        </p:nvGrpSpPr>
        <p:grpSpPr>
          <a:xfrm>
            <a:off x="1441523" y="2222023"/>
            <a:ext cx="9900712" cy="676558"/>
            <a:chOff x="1441523" y="2222023"/>
            <a:chExt cx="9900712" cy="67655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7198C22-660D-3B9C-A380-67934C275B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4302" y="2222023"/>
              <a:ext cx="0" cy="35265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E57ECA2-DCDC-C192-389D-FB8019CEE6EA}"/>
                </a:ext>
              </a:extLst>
            </p:cNvPr>
            <p:cNvCxnSpPr>
              <a:cxnSpLocks/>
            </p:cNvCxnSpPr>
            <p:nvPr/>
          </p:nvCxnSpPr>
          <p:spPr>
            <a:xfrm>
              <a:off x="1441523" y="2574676"/>
              <a:ext cx="8684333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DBB267D-4D60-4A59-88C2-81D4EF315F58}"/>
                </a:ext>
              </a:extLst>
            </p:cNvPr>
            <p:cNvSpPr txBox="1"/>
            <p:nvPr/>
          </p:nvSpPr>
          <p:spPr>
            <a:xfrm>
              <a:off x="10124722" y="2252250"/>
              <a:ext cx="12175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0070C0"/>
                  </a:solidFill>
                </a:rPr>
                <a:t>The time quantum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8A673B7-A650-007F-1961-BE42D2BEF93F}"/>
              </a:ext>
            </a:extLst>
          </p:cNvPr>
          <p:cNvSpPr txBox="1"/>
          <p:nvPr/>
        </p:nvSpPr>
        <p:spPr>
          <a:xfrm>
            <a:off x="4289436" y="4370238"/>
            <a:ext cx="72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AB494"/>
                </a:solidFill>
                <a:latin typeface="+mj-lt"/>
              </a:rPr>
              <a:t>TURN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3DC8339-CD58-00F4-713E-F8367DE5D2DD}"/>
              </a:ext>
            </a:extLst>
          </p:cNvPr>
          <p:cNvGrpSpPr/>
          <p:nvPr/>
        </p:nvGrpSpPr>
        <p:grpSpPr>
          <a:xfrm>
            <a:off x="3126581" y="3850183"/>
            <a:ext cx="1524493" cy="520055"/>
            <a:chOff x="3126581" y="3850183"/>
            <a:chExt cx="1524493" cy="520055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E39FFF2-541B-2F7F-DCC4-239909D7309B}"/>
                </a:ext>
              </a:extLst>
            </p:cNvPr>
            <p:cNvCxnSpPr/>
            <p:nvPr/>
          </p:nvCxnSpPr>
          <p:spPr>
            <a:xfrm flipV="1">
              <a:off x="3141341" y="3850183"/>
              <a:ext cx="0" cy="457321"/>
            </a:xfrm>
            <a:prstGeom prst="straightConnector1">
              <a:avLst/>
            </a:prstGeom>
            <a:ln w="28575">
              <a:solidFill>
                <a:srgbClr val="0AB49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EFB3A2C7-663C-0DF3-CAA4-26CC6FC0AE69}"/>
                </a:ext>
              </a:extLst>
            </p:cNvPr>
            <p:cNvCxnSpPr>
              <a:cxnSpLocks/>
              <a:stCxn id="65" idx="0"/>
            </p:cNvCxnSpPr>
            <p:nvPr/>
          </p:nvCxnSpPr>
          <p:spPr>
            <a:xfrm rot="16200000" flipV="1">
              <a:off x="3857461" y="3576624"/>
              <a:ext cx="62734" cy="1524493"/>
            </a:xfrm>
            <a:prstGeom prst="bentConnector2">
              <a:avLst/>
            </a:prstGeom>
            <a:ln w="28575">
              <a:solidFill>
                <a:srgbClr val="0AB4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478256BD-E1E2-DCD7-C7D8-F0D9E8CCB28B}"/>
              </a:ext>
            </a:extLst>
          </p:cNvPr>
          <p:cNvSpPr txBox="1"/>
          <p:nvPr/>
        </p:nvSpPr>
        <p:spPr>
          <a:xfrm>
            <a:off x="703132" y="2644545"/>
            <a:ext cx="6096000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           9          3           5          4           6 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461989E-BD19-D1C8-B686-A60EC1D7AF83}"/>
              </a:ext>
            </a:extLst>
          </p:cNvPr>
          <p:cNvSpPr/>
          <p:nvPr/>
        </p:nvSpPr>
        <p:spPr>
          <a:xfrm>
            <a:off x="2931664" y="2666927"/>
            <a:ext cx="418809" cy="352186"/>
          </a:xfrm>
          <a:prstGeom prst="ellipse">
            <a:avLst/>
          </a:prstGeom>
          <a:solidFill>
            <a:srgbClr val="FF0000">
              <a:alpha val="85098"/>
            </a:srgbClr>
          </a:solidFill>
          <a:ln w="12700" cap="flat" cmpd="sng" algn="ctr">
            <a:noFill/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9DFFB07-E585-B13A-0609-81FD350710EC}"/>
              </a:ext>
            </a:extLst>
          </p:cNvPr>
          <p:cNvSpPr txBox="1"/>
          <p:nvPr/>
        </p:nvSpPr>
        <p:spPr>
          <a:xfrm rot="10800000">
            <a:off x="5045583" y="1866491"/>
            <a:ext cx="1997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8C00"/>
                </a:solidFill>
                <a:latin typeface="+mj-lt"/>
              </a:rPr>
              <a:t>0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A0DD1E2-EB1A-71B3-D3E5-71BD571F9232}"/>
              </a:ext>
            </a:extLst>
          </p:cNvPr>
          <p:cNvSpPr/>
          <p:nvPr/>
        </p:nvSpPr>
        <p:spPr>
          <a:xfrm>
            <a:off x="4890359" y="1881771"/>
            <a:ext cx="418809" cy="352186"/>
          </a:xfrm>
          <a:prstGeom prst="ellipse">
            <a:avLst/>
          </a:prstGeom>
          <a:solidFill>
            <a:srgbClr val="FF0000">
              <a:alpha val="85098"/>
            </a:srgbClr>
          </a:solidFill>
          <a:ln w="12700" cap="flat" cmpd="sng" algn="ctr">
            <a:noFill/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E1FF29-0744-FF45-2FFE-C8331B34C96E}"/>
              </a:ext>
            </a:extLst>
          </p:cNvPr>
          <p:cNvSpPr txBox="1"/>
          <p:nvPr/>
        </p:nvSpPr>
        <p:spPr>
          <a:xfrm>
            <a:off x="6340653" y="1873198"/>
            <a:ext cx="1550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pc="-300">
                <a:solidFill>
                  <a:srgbClr val="00B050"/>
                </a:solidFill>
                <a:latin typeface="+mj-lt"/>
              </a:rPr>
              <a:t>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41F039E-2211-CBA4-817C-714C50BC9392}"/>
              </a:ext>
            </a:extLst>
          </p:cNvPr>
          <p:cNvSpPr/>
          <p:nvPr/>
        </p:nvSpPr>
        <p:spPr>
          <a:xfrm>
            <a:off x="6254553" y="1878621"/>
            <a:ext cx="418809" cy="352186"/>
          </a:xfrm>
          <a:prstGeom prst="ellipse">
            <a:avLst/>
          </a:prstGeom>
          <a:solidFill>
            <a:srgbClr val="FF0000">
              <a:alpha val="85098"/>
            </a:srgbClr>
          </a:solidFill>
          <a:ln w="12700" cap="flat" cmpd="sng" algn="ctr">
            <a:noFill/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C2A7A91-8D3A-82B2-1CBB-C91368DFB945}"/>
              </a:ext>
            </a:extLst>
          </p:cNvPr>
          <p:cNvGrpSpPr/>
          <p:nvPr/>
        </p:nvGrpSpPr>
        <p:grpSpPr>
          <a:xfrm>
            <a:off x="3873214" y="3850183"/>
            <a:ext cx="792619" cy="520053"/>
            <a:chOff x="3873215" y="3850184"/>
            <a:chExt cx="777860" cy="520053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8CC1615-22BA-5440-03B3-F0AD4F1ABA7C}"/>
                </a:ext>
              </a:extLst>
            </p:cNvPr>
            <p:cNvCxnSpPr/>
            <p:nvPr/>
          </p:nvCxnSpPr>
          <p:spPr>
            <a:xfrm flipV="1">
              <a:off x="3888205" y="3850184"/>
              <a:ext cx="0" cy="457321"/>
            </a:xfrm>
            <a:prstGeom prst="straightConnector1">
              <a:avLst/>
            </a:prstGeom>
            <a:ln w="28575">
              <a:solidFill>
                <a:srgbClr val="0AB49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5B184F5A-CDDE-7EA4-E844-A11F743F36A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873215" y="4307503"/>
              <a:ext cx="777860" cy="62734"/>
            </a:xfrm>
            <a:prstGeom prst="bentConnector3">
              <a:avLst>
                <a:gd name="adj1" fmla="val 1938"/>
              </a:avLst>
            </a:prstGeom>
            <a:ln w="28575">
              <a:solidFill>
                <a:srgbClr val="0AB4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DB6DBE15-8154-471C-88DA-BFDCE5AAB3E7}"/>
              </a:ext>
            </a:extLst>
          </p:cNvPr>
          <p:cNvSpPr txBox="1"/>
          <p:nvPr/>
        </p:nvSpPr>
        <p:spPr>
          <a:xfrm>
            <a:off x="703132" y="3316990"/>
            <a:ext cx="166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3399"/>
                </a:solidFill>
                <a:latin typeface="+mj-lt"/>
              </a:rPr>
              <a:t>TIME: 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CFBC5D8-6494-8F72-3AFC-7E8860DCA944}"/>
              </a:ext>
            </a:extLst>
          </p:cNvPr>
          <p:cNvSpPr txBox="1"/>
          <p:nvPr/>
        </p:nvSpPr>
        <p:spPr>
          <a:xfrm>
            <a:off x="703131" y="3316736"/>
            <a:ext cx="16681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3399"/>
                </a:solidFill>
                <a:latin typeface="+mj-lt"/>
              </a:rPr>
              <a:t>TIME: 1</a:t>
            </a:r>
          </a:p>
        </p:txBody>
      </p:sp>
    </p:spTree>
    <p:extLst>
      <p:ext uri="{BB962C8B-B14F-4D97-AF65-F5344CB8AC3E}">
        <p14:creationId xmlns:p14="http://schemas.microsoft.com/office/powerpoint/2010/main" val="11556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19" grpId="1"/>
      <p:bldP spid="65" grpId="0"/>
      <p:bldP spid="75" grpId="0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8" grpId="2" animBg="1"/>
      <p:bldP spid="78" grpId="3" animBg="1"/>
      <p:bldP spid="79" grpId="0" animBg="1"/>
      <p:bldP spid="80" grpId="0" animBg="1"/>
      <p:bldP spid="80" grpId="1" animBg="1"/>
      <p:bldP spid="88" grpId="0"/>
      <p:bldP spid="9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291393"/>
            <a:ext cx="12192000" cy="227521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Shortest time</a:t>
            </a:r>
          </a:p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Remaining first</a:t>
            </a:r>
          </a:p>
        </p:txBody>
      </p:sp>
    </p:spTree>
    <p:extLst>
      <p:ext uri="{BB962C8B-B14F-4D97-AF65-F5344CB8AC3E}">
        <p14:creationId xmlns:p14="http://schemas.microsoft.com/office/powerpoint/2010/main" val="3762994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5801-3AB7-E8FD-30C8-27323078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31FC-FF49-4641-DDEE-C735367E48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STRCF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6A9A7-D0D8-C64A-793E-C47CE1386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2795D-CD4A-EB79-6F1F-767B607FE831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/>
              <a:t>[A, B,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26508-19E3-6415-641D-5834A1763CAB}"/>
              </a:ext>
            </a:extLst>
          </p:cNvPr>
          <p:cNvSpPr txBox="1"/>
          <p:nvPr/>
        </p:nvSpPr>
        <p:spPr>
          <a:xfrm>
            <a:off x="703133" y="268646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Time:   5   2 </a:t>
            </a:r>
          </a:p>
        </p:txBody>
      </p:sp>
    </p:spTree>
    <p:extLst>
      <p:ext uri="{BB962C8B-B14F-4D97-AF65-F5344CB8AC3E}">
        <p14:creationId xmlns:p14="http://schemas.microsoft.com/office/powerpoint/2010/main" val="240562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C2A1-D1C1-101F-D973-EEA1413F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8827-41C2-1ADA-037A-B868CE4A1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STRCF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21BCA-7545-021C-FD07-1742BF5E1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7AF9C-0B81-CF4B-D100-C9EEE259BC00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/>
              <a:t>[B, A,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4ACA4-613D-0AFB-EB3C-71B84B16D0AE}"/>
              </a:ext>
            </a:extLst>
          </p:cNvPr>
          <p:cNvSpPr txBox="1"/>
          <p:nvPr/>
        </p:nvSpPr>
        <p:spPr>
          <a:xfrm>
            <a:off x="703133" y="268646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  1       5 </a:t>
            </a:r>
          </a:p>
        </p:txBody>
      </p:sp>
    </p:spTree>
    <p:extLst>
      <p:ext uri="{BB962C8B-B14F-4D97-AF65-F5344CB8AC3E}">
        <p14:creationId xmlns:p14="http://schemas.microsoft.com/office/powerpoint/2010/main" val="373742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C5EF6-00D6-0380-A416-9D6D0A60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406B-5EAE-4DF5-5DC1-8A44AAFFEE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STRCF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F6497-536C-F556-E18A-4697B6DD7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43578-92FB-26FD-B9C2-EBFE2D92C533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/>
              <a:t>[A, 0,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A9D46-73A2-2F3A-C922-0527606505C4}"/>
              </a:ext>
            </a:extLst>
          </p:cNvPr>
          <p:cNvSpPr txBox="1"/>
          <p:nvPr/>
        </p:nvSpPr>
        <p:spPr>
          <a:xfrm>
            <a:off x="703133" y="268646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   4      </a:t>
            </a:r>
          </a:p>
        </p:txBody>
      </p:sp>
    </p:spTree>
    <p:extLst>
      <p:ext uri="{BB962C8B-B14F-4D97-AF65-F5344CB8AC3E}">
        <p14:creationId xmlns:p14="http://schemas.microsoft.com/office/powerpoint/2010/main" val="293552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31D0-10E7-F5F0-A05C-8AD4BDEA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E324-3B97-EB0D-47E1-2EFBCAFC5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STRCF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D7DBA-F97B-E20F-3235-1377240422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8EB52-DA0B-4CD4-1A18-4BA2667FE21D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/>
              <a:t>[A, C,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6D914-BCCD-65CE-5113-4AA9475D96D4}"/>
              </a:ext>
            </a:extLst>
          </p:cNvPr>
          <p:cNvSpPr txBox="1"/>
          <p:nvPr/>
        </p:nvSpPr>
        <p:spPr>
          <a:xfrm>
            <a:off x="703133" y="268646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   4           2   </a:t>
            </a:r>
          </a:p>
        </p:txBody>
      </p:sp>
    </p:spTree>
    <p:extLst>
      <p:ext uri="{BB962C8B-B14F-4D97-AF65-F5344CB8AC3E}">
        <p14:creationId xmlns:p14="http://schemas.microsoft.com/office/powerpoint/2010/main" val="56982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AA1E-C59F-BBCF-73FB-16BC674C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0BB8-2B72-D8B8-9987-164E5F41E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STRCF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D40FF-80AA-4E50-8A0F-215D89ECA7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DABB2-706E-91D8-FFD4-746BF004F14F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/>
              <a:t>[C, A,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F5700-71C4-5836-AAE0-B6710FB53943}"/>
              </a:ext>
            </a:extLst>
          </p:cNvPr>
          <p:cNvSpPr txBox="1"/>
          <p:nvPr/>
        </p:nvSpPr>
        <p:spPr>
          <a:xfrm>
            <a:off x="703133" y="268646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   1           4   </a:t>
            </a:r>
          </a:p>
        </p:txBody>
      </p:sp>
    </p:spTree>
    <p:extLst>
      <p:ext uri="{BB962C8B-B14F-4D97-AF65-F5344CB8AC3E}">
        <p14:creationId xmlns:p14="http://schemas.microsoft.com/office/powerpoint/2010/main" val="78509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89AE-0B00-3310-7D4E-8E210294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3B82-29C7-4D2B-E11C-D35D669C2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STRCF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AA9B4-5664-A4F5-055C-70048AB6B9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6CCD2-DB04-76C2-32A1-8B223AE41A19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/>
              <a:t>[A, D,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4499D-720D-8520-06E2-7E734C69E345}"/>
              </a:ext>
            </a:extLst>
          </p:cNvPr>
          <p:cNvSpPr txBox="1"/>
          <p:nvPr/>
        </p:nvSpPr>
        <p:spPr>
          <a:xfrm>
            <a:off x="703133" y="268646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   3           6   </a:t>
            </a:r>
          </a:p>
        </p:txBody>
      </p:sp>
    </p:spTree>
    <p:extLst>
      <p:ext uri="{BB962C8B-B14F-4D97-AF65-F5344CB8AC3E}">
        <p14:creationId xmlns:p14="http://schemas.microsoft.com/office/powerpoint/2010/main" val="107582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45A8-46DD-95DF-AF47-25D6AFB3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AAA9-E039-F71B-11E6-2FB3957ED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STRCF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3BE48-2C7C-76B4-DC6E-D8C5A9171C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5B074-88F4-9A36-F6AA-2F5FFA233B76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/>
              <a:t>[A, D,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C7317-AD78-AE08-E298-A87ACAF30BA8}"/>
              </a:ext>
            </a:extLst>
          </p:cNvPr>
          <p:cNvSpPr txBox="1"/>
          <p:nvPr/>
        </p:nvSpPr>
        <p:spPr>
          <a:xfrm>
            <a:off x="703133" y="268646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   2           6 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DB62C-446F-6572-7C04-143A416E7E16}"/>
              </a:ext>
            </a:extLst>
          </p:cNvPr>
          <p:cNvSpPr txBox="1"/>
          <p:nvPr/>
        </p:nvSpPr>
        <p:spPr>
          <a:xfrm>
            <a:off x="1455896" y="4112604"/>
            <a:ext cx="55000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A completes if no shorter jobs appear...</a:t>
            </a:r>
          </a:p>
        </p:txBody>
      </p:sp>
    </p:spTree>
    <p:extLst>
      <p:ext uri="{BB962C8B-B14F-4D97-AF65-F5344CB8AC3E}">
        <p14:creationId xmlns:p14="http://schemas.microsoft.com/office/powerpoint/2010/main" val="235017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DA5DA-8A79-A5CE-AA48-8808C4A7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6E022FF-7FF1-EAD8-ADC6-A571C5AE2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5" y="103188"/>
            <a:ext cx="11471275" cy="666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82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First In First out</a:t>
            </a:r>
          </a:p>
        </p:txBody>
      </p:sp>
    </p:spTree>
    <p:extLst>
      <p:ext uri="{BB962C8B-B14F-4D97-AF65-F5344CB8AC3E}">
        <p14:creationId xmlns:p14="http://schemas.microsoft.com/office/powerpoint/2010/main" val="4131756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EA08-D9DB-399A-2E3A-7BEA8DC46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741D-7E47-FB37-0947-C68A24E1F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FIFO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27D4F-7485-E3B6-140D-A962DEA22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Daniel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37081-7C4F-13E9-FEB5-D4142383B886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[A, B, C, D, E, 0, 0, 0]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D9EFAD-94E9-3214-75AE-40EBC48A8191}"/>
              </a:ext>
            </a:extLst>
          </p:cNvPr>
          <p:cNvCxnSpPr/>
          <p:nvPr/>
        </p:nvCxnSpPr>
        <p:spPr>
          <a:xfrm>
            <a:off x="3183467" y="3918857"/>
            <a:ext cx="0" cy="924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47F2F0-2D46-FEAD-B5E1-4C2A0D18F9A4}"/>
              </a:ext>
            </a:extLst>
          </p:cNvPr>
          <p:cNvCxnSpPr>
            <a:cxnSpLocks/>
          </p:cNvCxnSpPr>
          <p:nvPr/>
        </p:nvCxnSpPr>
        <p:spPr>
          <a:xfrm>
            <a:off x="7278915" y="1891695"/>
            <a:ext cx="0" cy="9264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9CD842-0963-4141-9C68-07C9E740CD0A}"/>
              </a:ext>
            </a:extLst>
          </p:cNvPr>
          <p:cNvSpPr txBox="1"/>
          <p:nvPr/>
        </p:nvSpPr>
        <p:spPr>
          <a:xfrm>
            <a:off x="6574973" y="146514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Insertion </a:t>
            </a:r>
            <a:r>
              <a:rPr lang="en-US" err="1"/>
              <a:t>idx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4216E7-16FC-50E7-9CE6-7D708305932A}"/>
              </a:ext>
            </a:extLst>
          </p:cNvPr>
          <p:cNvSpPr txBox="1"/>
          <p:nvPr/>
        </p:nvSpPr>
        <p:spPr>
          <a:xfrm>
            <a:off x="2639182" y="485902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3692729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08E18-1C0A-F278-46D2-84D7ED533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31F2-B6BC-7867-BE79-642AAACE7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FIFO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A2F89-8382-1D6E-D7BA-866D36CAA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Daniel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63FEE-FDEC-A6BD-2FB2-B17E164E09FB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[/0, B, C, D, E, 0, 0, 0]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CE7A9B-989A-010A-314C-20BF8320DBA8}"/>
              </a:ext>
            </a:extLst>
          </p:cNvPr>
          <p:cNvCxnSpPr/>
          <p:nvPr/>
        </p:nvCxnSpPr>
        <p:spPr>
          <a:xfrm>
            <a:off x="3183467" y="3918857"/>
            <a:ext cx="0" cy="924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5E1424-67F5-76B9-042C-A4DBF10C2A02}"/>
              </a:ext>
            </a:extLst>
          </p:cNvPr>
          <p:cNvCxnSpPr>
            <a:cxnSpLocks/>
          </p:cNvCxnSpPr>
          <p:nvPr/>
        </p:nvCxnSpPr>
        <p:spPr>
          <a:xfrm>
            <a:off x="7278915" y="1891695"/>
            <a:ext cx="0" cy="9264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11378A-3EC5-DDFC-0487-468D93A3240B}"/>
              </a:ext>
            </a:extLst>
          </p:cNvPr>
          <p:cNvSpPr txBox="1"/>
          <p:nvPr/>
        </p:nvSpPr>
        <p:spPr>
          <a:xfrm>
            <a:off x="6574973" y="146514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Insertion </a:t>
            </a:r>
            <a:r>
              <a:rPr lang="en-US" err="1"/>
              <a:t>idx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77413-1FC1-C37F-CACC-AD4B94BC46AF}"/>
              </a:ext>
            </a:extLst>
          </p:cNvPr>
          <p:cNvSpPr txBox="1"/>
          <p:nvPr/>
        </p:nvSpPr>
        <p:spPr>
          <a:xfrm>
            <a:off x="2639182" y="485902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E85C1-BF5C-E633-399E-89CA100443D0}"/>
              </a:ext>
            </a:extLst>
          </p:cNvPr>
          <p:cNvSpPr txBox="1"/>
          <p:nvPr/>
        </p:nvSpPr>
        <p:spPr>
          <a:xfrm>
            <a:off x="2913042" y="5155838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721B5F-4378-E4FE-A223-4DAC1031F181}"/>
              </a:ext>
            </a:extLst>
          </p:cNvPr>
          <p:cNvCxnSpPr/>
          <p:nvPr/>
        </p:nvCxnSpPr>
        <p:spPr>
          <a:xfrm flipH="1">
            <a:off x="3483429" y="3918857"/>
            <a:ext cx="5665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97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35CB-7252-03AC-2940-BF0FBC54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2B47-B6C1-04B8-77A6-E8916A1DC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FIFO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64A00-CF43-962E-FCF0-C842CBEDB0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Daniel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089581-1EB0-E295-D512-5F0F3B4862CE}"/>
              </a:ext>
            </a:extLst>
          </p:cNvPr>
          <p:cNvSpPr txBox="1"/>
          <p:nvPr/>
        </p:nvSpPr>
        <p:spPr>
          <a:xfrm>
            <a:off x="2600112" y="2875411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[B, C, D, E, 0, 0, 0, 0]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3F694-96F1-3894-C3A5-AC9190C1EA0B}"/>
              </a:ext>
            </a:extLst>
          </p:cNvPr>
          <p:cNvCxnSpPr/>
          <p:nvPr/>
        </p:nvCxnSpPr>
        <p:spPr>
          <a:xfrm>
            <a:off x="3183467" y="3918857"/>
            <a:ext cx="0" cy="924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E2F1D0-B599-C8B9-6F94-A180F8F1C378}"/>
              </a:ext>
            </a:extLst>
          </p:cNvPr>
          <p:cNvCxnSpPr>
            <a:cxnSpLocks/>
          </p:cNvCxnSpPr>
          <p:nvPr/>
        </p:nvCxnSpPr>
        <p:spPr>
          <a:xfrm>
            <a:off x="7278915" y="1891695"/>
            <a:ext cx="0" cy="9264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9799D53-075D-DBCE-69C7-718970AC3569}"/>
              </a:ext>
            </a:extLst>
          </p:cNvPr>
          <p:cNvSpPr txBox="1"/>
          <p:nvPr/>
        </p:nvSpPr>
        <p:spPr>
          <a:xfrm>
            <a:off x="6574973" y="146514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Insertion </a:t>
            </a:r>
            <a:r>
              <a:rPr lang="en-US" err="1"/>
              <a:t>idx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A200F8-3D99-B73F-F598-3FDC65144E6F}"/>
              </a:ext>
            </a:extLst>
          </p:cNvPr>
          <p:cNvSpPr txBox="1"/>
          <p:nvPr/>
        </p:nvSpPr>
        <p:spPr>
          <a:xfrm>
            <a:off x="2639182" y="485902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B190D-0D43-B2BF-868F-616249D0AD04}"/>
              </a:ext>
            </a:extLst>
          </p:cNvPr>
          <p:cNvSpPr txBox="1"/>
          <p:nvPr/>
        </p:nvSpPr>
        <p:spPr>
          <a:xfrm>
            <a:off x="2913042" y="5155838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2026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7.40741E-7 L -0.08021 0.0106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23" y="5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07407E-6 L -0.07149 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63A8112-9D8E-1911-B757-487E3289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34" b="14849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552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Shortest Job First</a:t>
            </a:r>
          </a:p>
        </p:txBody>
      </p:sp>
    </p:spTree>
    <p:extLst>
      <p:ext uri="{BB962C8B-B14F-4D97-AF65-F5344CB8AC3E}">
        <p14:creationId xmlns:p14="http://schemas.microsoft.com/office/powerpoint/2010/main" val="1015071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552-1D8E-ED79-0CE9-D5F07715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0212-47A2-5639-3A85-B1DB7B75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AF414-25D8-636A-4DF8-84BFC8FF2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F0D84-FD3B-A9D6-D3C2-7F4EFE605D82}"/>
              </a:ext>
            </a:extLst>
          </p:cNvPr>
          <p:cNvSpPr txBox="1"/>
          <p:nvPr/>
        </p:nvSpPr>
        <p:spPr>
          <a:xfrm>
            <a:off x="2600112" y="429049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[A, B, C,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7A90F-FA14-EA5E-F6A5-49CD35076E40}"/>
              </a:ext>
            </a:extLst>
          </p:cNvPr>
          <p:cNvSpPr txBox="1"/>
          <p:nvPr/>
        </p:nvSpPr>
        <p:spPr>
          <a:xfrm>
            <a:off x="2600112" y="293281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Current Job: N/A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159AA-287B-DA14-6C55-282592F3A331}"/>
              </a:ext>
            </a:extLst>
          </p:cNvPr>
          <p:cNvSpPr txBox="1"/>
          <p:nvPr/>
        </p:nvSpPr>
        <p:spPr>
          <a:xfrm>
            <a:off x="704088" y="402012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Time:     2         7            5</a:t>
            </a:r>
          </a:p>
        </p:txBody>
      </p:sp>
    </p:spTree>
    <p:extLst>
      <p:ext uri="{BB962C8B-B14F-4D97-AF65-F5344CB8AC3E}">
        <p14:creationId xmlns:p14="http://schemas.microsoft.com/office/powerpoint/2010/main" val="427320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552-1D8E-ED79-0CE9-D5F07715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0212-47A2-5639-3A85-B1DB7B75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AF414-25D8-636A-4DF8-84BFC8FF2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F0D84-FD3B-A9D6-D3C2-7F4EFE605D82}"/>
              </a:ext>
            </a:extLst>
          </p:cNvPr>
          <p:cNvSpPr txBox="1"/>
          <p:nvPr/>
        </p:nvSpPr>
        <p:spPr>
          <a:xfrm>
            <a:off x="2600112" y="429049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[B, C,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7A90F-FA14-EA5E-F6A5-49CD35076E40}"/>
              </a:ext>
            </a:extLst>
          </p:cNvPr>
          <p:cNvSpPr txBox="1"/>
          <p:nvPr/>
        </p:nvSpPr>
        <p:spPr>
          <a:xfrm>
            <a:off x="2600112" y="293281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Current Job: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159AA-287B-DA14-6C55-282592F3A331}"/>
              </a:ext>
            </a:extLst>
          </p:cNvPr>
          <p:cNvSpPr txBox="1"/>
          <p:nvPr/>
        </p:nvSpPr>
        <p:spPr>
          <a:xfrm>
            <a:off x="704088" y="402012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          7            5</a:t>
            </a:r>
          </a:p>
        </p:txBody>
      </p:sp>
    </p:spTree>
    <p:extLst>
      <p:ext uri="{BB962C8B-B14F-4D97-AF65-F5344CB8AC3E}">
        <p14:creationId xmlns:p14="http://schemas.microsoft.com/office/powerpoint/2010/main" val="158722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552-1D8E-ED79-0CE9-D5F07715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0212-47A2-5639-3A85-B1DB7B75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AF414-25D8-636A-4DF8-84BFC8FF2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F0D84-FD3B-A9D6-D3C2-7F4EFE605D82}"/>
              </a:ext>
            </a:extLst>
          </p:cNvPr>
          <p:cNvSpPr txBox="1"/>
          <p:nvPr/>
        </p:nvSpPr>
        <p:spPr>
          <a:xfrm>
            <a:off x="2600112" y="429049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[B, C, D,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7A90F-FA14-EA5E-F6A5-49CD35076E40}"/>
              </a:ext>
            </a:extLst>
          </p:cNvPr>
          <p:cNvSpPr txBox="1"/>
          <p:nvPr/>
        </p:nvSpPr>
        <p:spPr>
          <a:xfrm>
            <a:off x="2600112" y="293281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Current Job: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159AA-287B-DA14-6C55-282592F3A331}"/>
              </a:ext>
            </a:extLst>
          </p:cNvPr>
          <p:cNvSpPr txBox="1"/>
          <p:nvPr/>
        </p:nvSpPr>
        <p:spPr>
          <a:xfrm>
            <a:off x="704088" y="402012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          7            5           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ABBF0-E8AD-1BC4-0366-31AA517112B6}"/>
              </a:ext>
            </a:extLst>
          </p:cNvPr>
          <p:cNvSpPr txBox="1"/>
          <p:nvPr/>
        </p:nvSpPr>
        <p:spPr>
          <a:xfrm>
            <a:off x="2650875" y="2428299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* JOB D GETS ADDED</a:t>
            </a:r>
          </a:p>
        </p:txBody>
      </p:sp>
    </p:spTree>
    <p:extLst>
      <p:ext uri="{BB962C8B-B14F-4D97-AF65-F5344CB8AC3E}">
        <p14:creationId xmlns:p14="http://schemas.microsoft.com/office/powerpoint/2010/main" val="8018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552-1D8E-ED79-0CE9-D5F07715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0212-47A2-5639-3A85-B1DB7B75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AF414-25D8-636A-4DF8-84BFC8FF2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F0D84-FD3B-A9D6-D3C2-7F4EFE605D82}"/>
              </a:ext>
            </a:extLst>
          </p:cNvPr>
          <p:cNvSpPr txBox="1"/>
          <p:nvPr/>
        </p:nvSpPr>
        <p:spPr>
          <a:xfrm>
            <a:off x="2600112" y="429049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[B, C,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7A90F-FA14-EA5E-F6A5-49CD35076E40}"/>
              </a:ext>
            </a:extLst>
          </p:cNvPr>
          <p:cNvSpPr txBox="1"/>
          <p:nvPr/>
        </p:nvSpPr>
        <p:spPr>
          <a:xfrm>
            <a:off x="2600112" y="293281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Current Job: 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159AA-287B-DA14-6C55-282592F3A331}"/>
              </a:ext>
            </a:extLst>
          </p:cNvPr>
          <p:cNvSpPr txBox="1"/>
          <p:nvPr/>
        </p:nvSpPr>
        <p:spPr>
          <a:xfrm>
            <a:off x="704088" y="402012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      7           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FD534-C769-0A23-58F1-8BB5FEE54E90}"/>
              </a:ext>
            </a:extLst>
          </p:cNvPr>
          <p:cNvSpPr txBox="1"/>
          <p:nvPr/>
        </p:nvSpPr>
        <p:spPr>
          <a:xfrm>
            <a:off x="2650875" y="2428299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*Job A finishes and searches for next shortest job</a:t>
            </a:r>
          </a:p>
        </p:txBody>
      </p:sp>
    </p:spTree>
    <p:extLst>
      <p:ext uri="{BB962C8B-B14F-4D97-AF65-F5344CB8AC3E}">
        <p14:creationId xmlns:p14="http://schemas.microsoft.com/office/powerpoint/2010/main" val="2705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552-1D8E-ED79-0CE9-D5F07715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0212-47A2-5639-3A85-B1DB7B75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AF414-25D8-636A-4DF8-84BFC8FF2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F0D84-FD3B-A9D6-D3C2-7F4EFE605D82}"/>
              </a:ext>
            </a:extLst>
          </p:cNvPr>
          <p:cNvSpPr txBox="1"/>
          <p:nvPr/>
        </p:nvSpPr>
        <p:spPr>
          <a:xfrm>
            <a:off x="2600112" y="429049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[B, 0,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7A90F-FA14-EA5E-F6A5-49CD35076E40}"/>
              </a:ext>
            </a:extLst>
          </p:cNvPr>
          <p:cNvSpPr txBox="1"/>
          <p:nvPr/>
        </p:nvSpPr>
        <p:spPr>
          <a:xfrm>
            <a:off x="2600112" y="293281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Current Job: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159AA-287B-DA14-6C55-282592F3A331}"/>
              </a:ext>
            </a:extLst>
          </p:cNvPr>
          <p:cNvSpPr txBox="1"/>
          <p:nvPr/>
        </p:nvSpPr>
        <p:spPr>
          <a:xfrm>
            <a:off x="704088" y="402012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Time:      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FD534-C769-0A23-58F1-8BB5FEE54E90}"/>
              </a:ext>
            </a:extLst>
          </p:cNvPr>
          <p:cNvSpPr txBox="1"/>
          <p:nvPr/>
        </p:nvSpPr>
        <p:spPr>
          <a:xfrm>
            <a:off x="2650875" y="2428299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*repeats process until all jobs are done</a:t>
            </a:r>
          </a:p>
        </p:txBody>
      </p:sp>
    </p:spTree>
    <p:extLst>
      <p:ext uri="{BB962C8B-B14F-4D97-AF65-F5344CB8AC3E}">
        <p14:creationId xmlns:p14="http://schemas.microsoft.com/office/powerpoint/2010/main" val="61301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552-1D8E-ED79-0CE9-D5F07715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0212-47A2-5639-3A85-B1DB7B75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AF414-25D8-636A-4DF8-84BFC8FF2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F0D84-FD3B-A9D6-D3C2-7F4EFE605D82}"/>
              </a:ext>
            </a:extLst>
          </p:cNvPr>
          <p:cNvSpPr txBox="1"/>
          <p:nvPr/>
        </p:nvSpPr>
        <p:spPr>
          <a:xfrm>
            <a:off x="2600112" y="429049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[0, 0, 0, 0, 0, 0, 0,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7A90F-FA14-EA5E-F6A5-49CD35076E40}"/>
              </a:ext>
            </a:extLst>
          </p:cNvPr>
          <p:cNvSpPr txBox="1"/>
          <p:nvPr/>
        </p:nvSpPr>
        <p:spPr>
          <a:xfrm>
            <a:off x="2600112" y="2932814"/>
            <a:ext cx="699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Current Job: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159AA-287B-DA14-6C55-282592F3A331}"/>
              </a:ext>
            </a:extLst>
          </p:cNvPr>
          <p:cNvSpPr txBox="1"/>
          <p:nvPr/>
        </p:nvSpPr>
        <p:spPr>
          <a:xfrm>
            <a:off x="704088" y="402012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Remaining Time:          </a:t>
            </a:r>
          </a:p>
        </p:txBody>
      </p:sp>
    </p:spTree>
    <p:extLst>
      <p:ext uri="{BB962C8B-B14F-4D97-AF65-F5344CB8AC3E}">
        <p14:creationId xmlns:p14="http://schemas.microsoft.com/office/powerpoint/2010/main" val="383149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552-1D8E-ED79-0CE9-D5F07715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0212-47A2-5639-3A85-B1DB7B75C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4108A-1816-71C9-CB4A-3E9402AC6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07" y="2866235"/>
            <a:ext cx="5483193" cy="31019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11DF8E-BF0F-6BB8-55D6-1A2F9C5EB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275" y="2864707"/>
            <a:ext cx="5158637" cy="310347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87BA02-D7D7-7D00-CC72-EC87CBD1FA80}"/>
              </a:ext>
            </a:extLst>
          </p:cNvPr>
          <p:cNvSpPr txBox="1">
            <a:spLocks/>
          </p:cNvSpPr>
          <p:nvPr/>
        </p:nvSpPr>
        <p:spPr>
          <a:xfrm>
            <a:off x="612808" y="1728103"/>
            <a:ext cx="4001526" cy="1138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If queue is empty</a:t>
            </a:r>
          </a:p>
          <a:p>
            <a:r>
              <a:rPr lang="en-US" sz="2800"/>
              <a:t>If current task exists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3236161-5F6D-CBE7-72B8-C230087FB739}"/>
              </a:ext>
            </a:extLst>
          </p:cNvPr>
          <p:cNvSpPr txBox="1">
            <a:spLocks/>
          </p:cNvSpPr>
          <p:nvPr/>
        </p:nvSpPr>
        <p:spPr>
          <a:xfrm>
            <a:off x="6525947" y="1726575"/>
            <a:ext cx="4001526" cy="1138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Choose a new task</a:t>
            </a:r>
          </a:p>
          <a:p>
            <a:r>
              <a:rPr lang="en-US" sz="2800"/>
              <a:t>Run the new task</a:t>
            </a:r>
          </a:p>
        </p:txBody>
      </p:sp>
    </p:spTree>
    <p:extLst>
      <p:ext uri="{BB962C8B-B14F-4D97-AF65-F5344CB8AC3E}">
        <p14:creationId xmlns:p14="http://schemas.microsoft.com/office/powerpoint/2010/main" val="1256454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3643430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441A-9F9E-50BE-466D-0735A569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 and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02D0C-43DF-5C73-E023-30130F1AE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Test correctness of individual scheduling algorithms</a:t>
            </a:r>
          </a:p>
          <a:p>
            <a:r>
              <a:rPr lang="en-US" sz="2800"/>
              <a:t>Streamline implementation into main scheduler</a:t>
            </a:r>
          </a:p>
          <a:p>
            <a:pPr marL="0" indent="0">
              <a:buNone/>
            </a:pPr>
            <a:r>
              <a:rPr lang="en-US" sz="2800"/>
              <a:t>Method:</a:t>
            </a:r>
          </a:p>
          <a:p>
            <a:r>
              <a:rPr lang="en-US" sz="2800"/>
              <a:t>Modify scheduleMain to not implement other algorithms</a:t>
            </a:r>
          </a:p>
        </p:txBody>
      </p:sp>
    </p:spTree>
    <p:extLst>
      <p:ext uri="{BB962C8B-B14F-4D97-AF65-F5344CB8AC3E}">
        <p14:creationId xmlns:p14="http://schemas.microsoft.com/office/powerpoint/2010/main" val="35379493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E488-277E-752C-E057-AABCC44D1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B48D91-A97F-1271-F877-158231408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4233"/>
            <a:ext cx="10691265" cy="1307592"/>
          </a:xfrm>
        </p:spPr>
        <p:txBody>
          <a:bodyPr/>
          <a:lstStyle/>
          <a:p>
            <a:r>
              <a:rPr lang="en-US"/>
              <a:t>Example: </a:t>
            </a:r>
            <a:r>
              <a:rPr lang="en-US" err="1"/>
              <a:t>fifo</a:t>
            </a:r>
          </a:p>
        </p:txBody>
      </p:sp>
      <p:pic>
        <p:nvPicPr>
          <p:cNvPr id="12" name="Picture 11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071B5E98-3A02-C4E9-D477-DC0F72EF5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33" y="3959754"/>
            <a:ext cx="4912784" cy="2790826"/>
          </a:xfrm>
          <a:prstGeom prst="rect">
            <a:avLst/>
          </a:prstGeom>
        </p:spPr>
      </p:pic>
      <p:pic>
        <p:nvPicPr>
          <p:cNvPr id="15" name="Content Placeholder 1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714945C-D6CF-7F90-4CFB-488AFF827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8" t="116" b="23729"/>
          <a:stretch>
            <a:fillRect/>
          </a:stretch>
        </p:blipFill>
        <p:spPr>
          <a:xfrm>
            <a:off x="1166027" y="660005"/>
            <a:ext cx="5149168" cy="2996296"/>
          </a:xfrm>
          <a:prstGeom prst="rect">
            <a:avLst/>
          </a:prstGeom>
        </p:spPr>
      </p:pic>
      <p:pic>
        <p:nvPicPr>
          <p:cNvPr id="16" name="Picture 1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D6AA3C42-5FF2-3ABF-1B3F-DFE3EA69C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767" y="1621368"/>
            <a:ext cx="5183717" cy="349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19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9C060-31A6-E0CC-16EF-A6495912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DA57-451B-5ED5-6B09-1FC27668A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915733"/>
          </a:xfrm>
        </p:spPr>
        <p:txBody>
          <a:bodyPr/>
          <a:lstStyle/>
          <a:p>
            <a:r>
              <a:rPr lang="en-US" err="1"/>
              <a:t>Test.c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EB37F-90E1-0DF2-A86D-5B4B0E497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081" y="5455403"/>
            <a:ext cx="6991776" cy="38229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Eric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D7C182-6894-0B22-7BEC-768D48881E70}"/>
              </a:ext>
            </a:extLst>
          </p:cNvPr>
          <p:cNvGrpSpPr/>
          <p:nvPr/>
        </p:nvGrpSpPr>
        <p:grpSpPr>
          <a:xfrm>
            <a:off x="0" y="1925972"/>
            <a:ext cx="2821777" cy="3386380"/>
            <a:chOff x="0" y="1917778"/>
            <a:chExt cx="2821777" cy="3386380"/>
          </a:xfrm>
        </p:grpSpPr>
        <p:sp>
          <p:nvSpPr>
            <p:cNvPr id="4" name="Flowchart: Alternate Process 3">
              <a:extLst>
                <a:ext uri="{FF2B5EF4-FFF2-40B4-BE49-F238E27FC236}">
                  <a16:creationId xmlns:a16="http://schemas.microsoft.com/office/drawing/2014/main" id="{B7AF7FBB-0B19-DE5C-C940-3727091423AB}"/>
                </a:ext>
              </a:extLst>
            </p:cNvPr>
            <p:cNvSpPr/>
            <p:nvPr/>
          </p:nvSpPr>
          <p:spPr>
            <a:xfrm>
              <a:off x="1822136" y="3282537"/>
              <a:ext cx="999641" cy="669759"/>
            </a:xfrm>
            <a:prstGeom prst="flowChartAlternateProcess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8C00"/>
                  </a:solidFill>
                </a:rPr>
                <a:t>Process</a:t>
              </a:r>
            </a:p>
          </p:txBody>
        </p:sp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9C590ED6-A5B1-2527-1184-8B8171340653}"/>
                </a:ext>
              </a:extLst>
            </p:cNvPr>
            <p:cNvSpPr/>
            <p:nvPr/>
          </p:nvSpPr>
          <p:spPr>
            <a:xfrm>
              <a:off x="643724" y="1917778"/>
              <a:ext cx="1053895" cy="338638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975BED-E901-24EE-FC9B-56EC98816981}"/>
                </a:ext>
              </a:extLst>
            </p:cNvPr>
            <p:cNvSpPr txBox="1"/>
            <p:nvPr/>
          </p:nvSpPr>
          <p:spPr>
            <a:xfrm>
              <a:off x="0" y="2318305"/>
              <a:ext cx="1220965" cy="249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FF8C00"/>
                  </a:solidFill>
                </a:rPr>
                <a:t>name</a:t>
              </a: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r>
                <a:rPr lang="en-US" sz="1200" err="1">
                  <a:solidFill>
                    <a:srgbClr val="FF8C00"/>
                  </a:solidFill>
                </a:rPr>
                <a:t>remainingTime</a:t>
              </a:r>
              <a:endParaRPr lang="en-US" sz="1200">
                <a:solidFill>
                  <a:srgbClr val="FF8C00"/>
                </a:solidFill>
              </a:endParaRP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r>
                <a:rPr lang="en-US" sz="1200" err="1">
                  <a:solidFill>
                    <a:srgbClr val="FF8C00"/>
                  </a:solidFill>
                </a:rPr>
                <a:t>arrivalTime</a:t>
              </a:r>
              <a:endParaRPr lang="en-US" sz="1200">
                <a:solidFill>
                  <a:srgbClr val="FF8C00"/>
                </a:solidFill>
              </a:endParaRP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r>
                <a:rPr lang="en-US" sz="1200" err="1">
                  <a:solidFill>
                    <a:srgbClr val="FF8C00"/>
                  </a:solidFill>
                </a:rPr>
                <a:t>finishTime</a:t>
              </a:r>
              <a:endParaRPr lang="en-US" sz="1200">
                <a:solidFill>
                  <a:srgbClr val="FF8C00"/>
                </a:solidFill>
              </a:endParaRP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endParaRPr lang="en-US" sz="1200">
                <a:solidFill>
                  <a:srgbClr val="FF8C00"/>
                </a:solidFill>
              </a:endParaRPr>
            </a:p>
            <a:p>
              <a:r>
                <a:rPr lang="en-US" sz="1200">
                  <a:solidFill>
                    <a:srgbClr val="FF8C00"/>
                  </a:solidFill>
                </a:rPr>
                <a:t>priority</a:t>
              </a:r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16C8F2F2-5C38-B20E-3AC8-858072E5B3B1}"/>
              </a:ext>
            </a:extLst>
          </p:cNvPr>
          <p:cNvSpPr/>
          <p:nvPr/>
        </p:nvSpPr>
        <p:spPr>
          <a:xfrm>
            <a:off x="2946295" y="3455986"/>
            <a:ext cx="453774" cy="331003"/>
          </a:xfrm>
          <a:prstGeom prst="right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A86AD-C817-ACFA-D7CB-6856117BA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444489"/>
              </p:ext>
            </p:extLst>
          </p:nvPr>
        </p:nvGraphicFramePr>
        <p:xfrm>
          <a:off x="3524587" y="2771827"/>
          <a:ext cx="2883363" cy="179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403">
                  <a:extLst>
                    <a:ext uri="{9D8B030D-6E8A-4147-A177-3AD203B41FA5}">
                      <a16:colId xmlns:a16="http://schemas.microsoft.com/office/drawing/2014/main" val="2080990768"/>
                    </a:ext>
                  </a:extLst>
                </a:gridCol>
                <a:gridCol w="575740">
                  <a:extLst>
                    <a:ext uri="{9D8B030D-6E8A-4147-A177-3AD203B41FA5}">
                      <a16:colId xmlns:a16="http://schemas.microsoft.com/office/drawing/2014/main" val="978083068"/>
                    </a:ext>
                  </a:extLst>
                </a:gridCol>
                <a:gridCol w="575740">
                  <a:extLst>
                    <a:ext uri="{9D8B030D-6E8A-4147-A177-3AD203B41FA5}">
                      <a16:colId xmlns:a16="http://schemas.microsoft.com/office/drawing/2014/main" val="3395092678"/>
                    </a:ext>
                  </a:extLst>
                </a:gridCol>
                <a:gridCol w="575740">
                  <a:extLst>
                    <a:ext uri="{9D8B030D-6E8A-4147-A177-3AD203B41FA5}">
                      <a16:colId xmlns:a16="http://schemas.microsoft.com/office/drawing/2014/main" val="493519729"/>
                    </a:ext>
                  </a:extLst>
                </a:gridCol>
                <a:gridCol w="575740">
                  <a:extLst>
                    <a:ext uri="{9D8B030D-6E8A-4147-A177-3AD203B41FA5}">
                      <a16:colId xmlns:a16="http://schemas.microsoft.com/office/drawing/2014/main" val="2602081769"/>
                    </a:ext>
                  </a:extLst>
                </a:gridCol>
              </a:tblGrid>
              <a:tr h="449620"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processD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processE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processL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800" b="1" err="1">
                          <a:solidFill>
                            <a:srgbClr val="FF8C00"/>
                          </a:solidFill>
                        </a:rPr>
                        <a:t>processM</a:t>
                      </a:r>
                      <a:endParaRPr lang="en-US" sz="8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591757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processG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processH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processI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processN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processO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218303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processC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processJ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processK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46492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processA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processB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900" b="1" err="1">
                          <a:solidFill>
                            <a:srgbClr val="FF8C00"/>
                          </a:solidFill>
                        </a:rPr>
                        <a:t>processF</a:t>
                      </a:r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900" b="1">
                        <a:solidFill>
                          <a:srgbClr val="FF8C00"/>
                        </a:solidFill>
                      </a:endParaRPr>
                    </a:p>
                  </a:txBody>
                  <a:tcPr marL="54413" marR="54413" marT="27207" marB="272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14081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8173640F-C56C-263C-E1C3-BBFB54E3F35A}"/>
              </a:ext>
            </a:extLst>
          </p:cNvPr>
          <p:cNvGrpSpPr/>
          <p:nvPr/>
        </p:nvGrpSpPr>
        <p:grpSpPr>
          <a:xfrm>
            <a:off x="6407950" y="2771827"/>
            <a:ext cx="1143000" cy="1784877"/>
            <a:chOff x="6407950" y="2771827"/>
            <a:chExt cx="1143000" cy="17848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A066CF-9AEA-09CF-377E-04DD45CA0207}"/>
                </a:ext>
              </a:extLst>
            </p:cNvPr>
            <p:cNvSpPr txBox="1"/>
            <p:nvPr/>
          </p:nvSpPr>
          <p:spPr>
            <a:xfrm>
              <a:off x="6407950" y="2771827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RR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098AE5-B1B6-4005-0DA2-5D7C7918137F}"/>
                </a:ext>
              </a:extLst>
            </p:cNvPr>
            <p:cNvSpPr txBox="1"/>
            <p:nvPr/>
          </p:nvSpPr>
          <p:spPr>
            <a:xfrm>
              <a:off x="6407950" y="326168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SRTRF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21EE50-D170-8695-DD84-170AD6F219ED}"/>
                </a:ext>
              </a:extLst>
            </p:cNvPr>
            <p:cNvSpPr txBox="1"/>
            <p:nvPr/>
          </p:nvSpPr>
          <p:spPr>
            <a:xfrm>
              <a:off x="6407950" y="372453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FIFO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56CEBE-90EA-1BBE-0E21-F65C3E958CF6}"/>
                </a:ext>
              </a:extLst>
            </p:cNvPr>
            <p:cNvSpPr txBox="1"/>
            <p:nvPr/>
          </p:nvSpPr>
          <p:spPr>
            <a:xfrm>
              <a:off x="6407950" y="4187372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SJF</a:t>
              </a:r>
            </a:p>
          </p:txBody>
        </p:sp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9F0C270-B82E-7F38-A9F0-2155BCAEF61A}"/>
              </a:ext>
            </a:extLst>
          </p:cNvPr>
          <p:cNvSpPr/>
          <p:nvPr/>
        </p:nvSpPr>
        <p:spPr>
          <a:xfrm>
            <a:off x="7409438" y="3455986"/>
            <a:ext cx="453774" cy="331003"/>
          </a:xfrm>
          <a:prstGeom prst="right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llout: Line with No Border 14">
            <a:extLst>
              <a:ext uri="{FF2B5EF4-FFF2-40B4-BE49-F238E27FC236}">
                <a16:creationId xmlns:a16="http://schemas.microsoft.com/office/drawing/2014/main" id="{B7241AA5-F219-9489-14E4-DDA4473FEE28}"/>
              </a:ext>
            </a:extLst>
          </p:cNvPr>
          <p:cNvSpPr/>
          <p:nvPr/>
        </p:nvSpPr>
        <p:spPr>
          <a:xfrm>
            <a:off x="8083244" y="3324696"/>
            <a:ext cx="1208069" cy="612648"/>
          </a:xfrm>
          <a:prstGeom prst="callout1">
            <a:avLst>
              <a:gd name="adj1" fmla="val 52614"/>
              <a:gd name="adj2" fmla="val 910"/>
              <a:gd name="adj3" fmla="val 112500"/>
              <a:gd name="adj4" fmla="val -38333"/>
            </a:avLst>
          </a:prstGeom>
          <a:solidFill>
            <a:srgbClr val="7030A0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schedule-main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342DF87-76B4-F4E4-39EC-9936C6C6D258}"/>
              </a:ext>
            </a:extLst>
          </p:cNvPr>
          <p:cNvSpPr/>
          <p:nvPr/>
        </p:nvSpPr>
        <p:spPr>
          <a:xfrm>
            <a:off x="9409807" y="3458770"/>
            <a:ext cx="453774" cy="331003"/>
          </a:xfrm>
          <a:prstGeom prst="right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C6E7AC-B93F-9105-43C7-81F18E41D9C3}"/>
              </a:ext>
            </a:extLst>
          </p:cNvPr>
          <p:cNvSpPr txBox="1"/>
          <p:nvPr/>
        </p:nvSpPr>
        <p:spPr>
          <a:xfrm>
            <a:off x="9982075" y="3478077"/>
            <a:ext cx="22191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/>
              <a:t>assert(process -&gt; </a:t>
            </a:r>
            <a:r>
              <a:rPr lang="en-US" sz="1300" err="1"/>
              <a:t>finishTime</a:t>
            </a:r>
            <a:r>
              <a:rPr lang="en-US" sz="13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218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7" grpId="0" animBg="1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Test validation</a:t>
            </a:r>
          </a:p>
        </p:txBody>
      </p:sp>
    </p:spTree>
    <p:extLst>
      <p:ext uri="{BB962C8B-B14F-4D97-AF65-F5344CB8AC3E}">
        <p14:creationId xmlns:p14="http://schemas.microsoft.com/office/powerpoint/2010/main" val="2808804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Excel spreadsheet</a:t>
            </a:r>
          </a:p>
        </p:txBody>
      </p:sp>
    </p:spTree>
    <p:extLst>
      <p:ext uri="{BB962C8B-B14F-4D97-AF65-F5344CB8AC3E}">
        <p14:creationId xmlns:p14="http://schemas.microsoft.com/office/powerpoint/2010/main" val="1745978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0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Code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5123289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D00F34-12B9-D67E-17A0-FA9A655F43D0}"/>
              </a:ext>
            </a:extLst>
          </p:cNvPr>
          <p:cNvSpPr txBox="1">
            <a:spLocks/>
          </p:cNvSpPr>
          <p:nvPr/>
        </p:nvSpPr>
        <p:spPr>
          <a:xfrm>
            <a:off x="-3005667" y="2790676"/>
            <a:ext cx="12192000" cy="12766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solidFill>
                  <a:schemeClr val="bg1">
                    <a:lumMod val="10000"/>
                  </a:schemeClr>
                </a:solidFill>
              </a:rPr>
              <a:t>Closing</a:t>
            </a:r>
          </a:p>
        </p:txBody>
      </p:sp>
      <p:pic>
        <p:nvPicPr>
          <p:cNvPr id="3" name="Picture 2" descr="uwu - Discord Emoji">
            <a:extLst>
              <a:ext uri="{FF2B5EF4-FFF2-40B4-BE49-F238E27FC236}">
                <a16:creationId xmlns:a16="http://schemas.microsoft.com/office/drawing/2014/main" id="{D471D3D3-4C72-5831-9295-C2356C8B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611" y="954497"/>
            <a:ext cx="4935055" cy="494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2451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Application>Microsoft Office PowerPoint</Application>
  <PresentationFormat>Widescreen</PresentationFormat>
  <Slides>44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ChronicleVTI</vt:lpstr>
      <vt:lpstr>Multilevel queue scheduler</vt:lpstr>
      <vt:lpstr>PowerPoint Presentation</vt:lpstr>
      <vt:lpstr>MULTILEVEL QUEUE (OVERVIEW)</vt:lpstr>
      <vt:lpstr>Order of the queues/Priority Levels</vt:lpstr>
      <vt:lpstr>PowerPoint Presentation</vt:lpstr>
      <vt:lpstr>Schedule-main</vt:lpstr>
      <vt:lpstr>Schedule-main</vt:lpstr>
      <vt:lpstr>Schedule-main</vt:lpstr>
      <vt:lpstr>Schedule-main</vt:lpstr>
      <vt:lpstr>Schedule-main</vt:lpstr>
      <vt:lpstr>PowerPoint Presentation</vt:lpstr>
      <vt:lpstr>PowerPoint Presentation</vt:lpstr>
      <vt:lpstr>PowerPoint Presentation</vt:lpstr>
      <vt:lpstr>Round Robin    </vt:lpstr>
      <vt:lpstr>PowerPoint Presentation</vt:lpstr>
      <vt:lpstr>STRCF</vt:lpstr>
      <vt:lpstr>STRCF</vt:lpstr>
      <vt:lpstr>STRCF</vt:lpstr>
      <vt:lpstr>STRCF</vt:lpstr>
      <vt:lpstr>STRCF</vt:lpstr>
      <vt:lpstr>STRCF</vt:lpstr>
      <vt:lpstr>STRCF</vt:lpstr>
      <vt:lpstr>PowerPoint Presentation</vt:lpstr>
      <vt:lpstr>PowerPoint Presentation</vt:lpstr>
      <vt:lpstr>FIFO</vt:lpstr>
      <vt:lpstr>FIFO</vt:lpstr>
      <vt:lpstr>FIFO</vt:lpstr>
      <vt:lpstr>PowerPoint Presentation</vt:lpstr>
      <vt:lpstr>PowerPoint Presentation</vt:lpstr>
      <vt:lpstr>SHORTEST job first</vt:lpstr>
      <vt:lpstr>SHORTEST job first</vt:lpstr>
      <vt:lpstr>SHORTEST job first</vt:lpstr>
      <vt:lpstr>SHORTEST job first</vt:lpstr>
      <vt:lpstr>SHORTEST job first</vt:lpstr>
      <vt:lpstr>SHORTEST job first</vt:lpstr>
      <vt:lpstr>SHORTEST job first</vt:lpstr>
      <vt:lpstr>PowerPoint Presentation</vt:lpstr>
      <vt:lpstr>Motivation and method</vt:lpstr>
      <vt:lpstr>Example: fifo</vt:lpstr>
      <vt:lpstr>Test.c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Multilevel queue scheduler</dc:title>
  <dc:creator>Bokshan, Daniel</dc:creator>
  <cp:revision>2</cp:revision>
  <dcterms:created xsi:type="dcterms:W3CDTF">2025-11-12T02:36:41Z</dcterms:created>
  <dcterms:modified xsi:type="dcterms:W3CDTF">2025-11-16T08:07:23Z</dcterms:modified>
</cp:coreProperties>
</file>