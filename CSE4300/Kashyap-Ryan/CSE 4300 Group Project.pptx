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3" r:id="rId8"/>
    <p:sldId id="265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5FA53B-C87B-D3AF-4115-94F22202129C}" v="114" dt="2025-11-16T04:35:07.163"/>
    <p1510:client id="{A7C80412-D26B-B466-01AF-E5605C06AE12}" v="847" dt="2025-11-16T04:28:05.0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A8B9CB-4510-4313-A47F-59FF7069D05B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28E56FB-1D91-4424-A280-63E794BC042C}">
      <dgm:prSet/>
      <dgm:spPr/>
      <dgm:t>
        <a:bodyPr/>
        <a:lstStyle/>
        <a:p>
          <a:r>
            <a:rPr lang="en-US" dirty="0"/>
            <a:t>Design an RS232 simulator </a:t>
          </a:r>
        </a:p>
      </dgm:t>
    </dgm:pt>
    <dgm:pt modelId="{68BD4090-37E8-4A7B-889E-2DBDA66E8DC2}" type="parTrans" cxnId="{5AD54514-8590-4D90-BE9A-0C4C4EBEA54F}">
      <dgm:prSet/>
      <dgm:spPr/>
      <dgm:t>
        <a:bodyPr/>
        <a:lstStyle/>
        <a:p>
          <a:endParaRPr lang="en-US"/>
        </a:p>
      </dgm:t>
    </dgm:pt>
    <dgm:pt modelId="{D83DB900-B6E9-4B83-AD3E-66EE40747B07}" type="sibTrans" cxnId="{5AD54514-8590-4D90-BE9A-0C4C4EBEA54F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37C7D0DD-89C7-4EF4-BF00-4FF3E9D98FC1}">
      <dgm:prSet/>
      <dgm:spPr/>
      <dgm:t>
        <a:bodyPr/>
        <a:lstStyle/>
        <a:p>
          <a:r>
            <a:rPr lang="en-US" dirty="0"/>
            <a:t>Implement features like clock drift, non return to zero encoding, variable data length, and start and stop bits</a:t>
          </a:r>
        </a:p>
      </dgm:t>
    </dgm:pt>
    <dgm:pt modelId="{BB300F1B-4068-4D75-8F5E-07A0DDE3A2FE}" type="parTrans" cxnId="{9989FD91-08AB-4655-92B6-B39BD55FE801}">
      <dgm:prSet/>
      <dgm:spPr/>
      <dgm:t>
        <a:bodyPr/>
        <a:lstStyle/>
        <a:p>
          <a:endParaRPr lang="en-US"/>
        </a:p>
      </dgm:t>
    </dgm:pt>
    <dgm:pt modelId="{FC82F993-A736-40D8-992A-FCAA8FF52E4A}" type="sibTrans" cxnId="{9989FD91-08AB-4655-92B6-B39BD55FE801}">
      <dgm:prSet/>
      <dgm:spPr/>
      <dgm:t>
        <a:bodyPr/>
        <a:lstStyle/>
        <a:p>
          <a:endParaRPr lang="en-US"/>
        </a:p>
      </dgm:t>
    </dgm:pt>
    <dgm:pt modelId="{78550ECB-8C6E-4B9D-BF3F-9AB410C82E33}">
      <dgm:prSet/>
      <dgm:spPr/>
      <dgm:t>
        <a:bodyPr/>
        <a:lstStyle/>
        <a:p>
          <a:r>
            <a:rPr lang="en-US" dirty="0"/>
            <a:t>Plot and display results</a:t>
          </a:r>
        </a:p>
      </dgm:t>
    </dgm:pt>
    <dgm:pt modelId="{552B5092-C3B3-455F-AD51-FB98CF411A7D}" type="parTrans" cxnId="{2825F5CD-E7D1-49D9-80CE-11B054BE7E5B}">
      <dgm:prSet/>
      <dgm:spPr/>
      <dgm:t>
        <a:bodyPr/>
        <a:lstStyle/>
        <a:p>
          <a:endParaRPr lang="en-US"/>
        </a:p>
      </dgm:t>
    </dgm:pt>
    <dgm:pt modelId="{EBB2ACE5-C314-40EA-9A16-53F2019A97A3}" type="sibTrans" cxnId="{2825F5CD-E7D1-49D9-80CE-11B054BE7E5B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861EF2AB-0967-4F00-8880-2539749A9EE3}">
      <dgm:prSet phldr="0"/>
      <dgm:spPr/>
      <dgm:t>
        <a:bodyPr/>
        <a:lstStyle/>
        <a:p>
          <a:pPr rtl="0"/>
          <a:r>
            <a:rPr lang="en-US" sz="1400" dirty="0">
              <a:latin typeface="Aptos Display" panose="020F0302020204030204"/>
            </a:rPr>
            <a:t>Display the simulated transmission line along with an ideal clock signal.</a:t>
          </a:r>
        </a:p>
      </dgm:t>
    </dgm:pt>
    <dgm:pt modelId="{62A37102-F9F0-4293-9471-05018C70D5E5}" type="parTrans" cxnId="{B50E7957-96FA-4C6F-BD30-355C7FDEA609}">
      <dgm:prSet/>
      <dgm:spPr/>
    </dgm:pt>
    <dgm:pt modelId="{C9611F3D-B550-471A-9CEB-B54F5250AECF}" type="sibTrans" cxnId="{B50E7957-96FA-4C6F-BD30-355C7FDEA609}">
      <dgm:prSet phldrT="3" phldr="0"/>
      <dgm:spPr/>
    </dgm:pt>
    <dgm:pt modelId="{D88F9705-44EB-4D18-85B8-AE137E659616}" type="pres">
      <dgm:prSet presAssocID="{79A8B9CB-4510-4313-A47F-59FF7069D05B}" presName="Name0" presStyleCnt="0">
        <dgm:presLayoutVars>
          <dgm:animLvl val="lvl"/>
          <dgm:resizeHandles val="exact"/>
        </dgm:presLayoutVars>
      </dgm:prSet>
      <dgm:spPr/>
    </dgm:pt>
    <dgm:pt modelId="{8C947E7B-71D4-427D-BE8D-A2C07FDE9443}" type="pres">
      <dgm:prSet presAssocID="{F28E56FB-1D91-4424-A280-63E794BC042C}" presName="compositeNode" presStyleCnt="0">
        <dgm:presLayoutVars>
          <dgm:bulletEnabled val="1"/>
        </dgm:presLayoutVars>
      </dgm:prSet>
      <dgm:spPr/>
    </dgm:pt>
    <dgm:pt modelId="{BA5FCEFD-0ED6-4CF5-8657-7EF878ED4770}" type="pres">
      <dgm:prSet presAssocID="{F28E56FB-1D91-4424-A280-63E794BC042C}" presName="bgRect" presStyleLbl="bgAccFollowNode1" presStyleIdx="0" presStyleCnt="2"/>
      <dgm:spPr/>
    </dgm:pt>
    <dgm:pt modelId="{34D3752F-5478-4954-9A46-5942237FBB4D}" type="pres">
      <dgm:prSet presAssocID="{D83DB900-B6E9-4B83-AD3E-66EE40747B07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6DEC8A3D-A735-41C7-98E8-59CB3A765FD9}" type="pres">
      <dgm:prSet presAssocID="{F28E56FB-1D91-4424-A280-63E794BC042C}" presName="bottomLine" presStyleLbl="alignNode1" presStyleIdx="1" presStyleCnt="4">
        <dgm:presLayoutVars/>
      </dgm:prSet>
      <dgm:spPr/>
    </dgm:pt>
    <dgm:pt modelId="{0C948261-E82A-4BF5-9F5A-6543EAE74596}" type="pres">
      <dgm:prSet presAssocID="{F28E56FB-1D91-4424-A280-63E794BC042C}" presName="nodeText" presStyleLbl="bgAccFollowNode1" presStyleIdx="0" presStyleCnt="2">
        <dgm:presLayoutVars>
          <dgm:bulletEnabled val="1"/>
        </dgm:presLayoutVars>
      </dgm:prSet>
      <dgm:spPr/>
    </dgm:pt>
    <dgm:pt modelId="{ADBFD186-9B32-4C05-8A87-96A69989B5FA}" type="pres">
      <dgm:prSet presAssocID="{D83DB900-B6E9-4B83-AD3E-66EE40747B07}" presName="sibTrans" presStyleCnt="0"/>
      <dgm:spPr/>
    </dgm:pt>
    <dgm:pt modelId="{1A4B8BC4-7AAC-4932-93A3-CEFE15F17656}" type="pres">
      <dgm:prSet presAssocID="{78550ECB-8C6E-4B9D-BF3F-9AB410C82E33}" presName="compositeNode" presStyleCnt="0">
        <dgm:presLayoutVars>
          <dgm:bulletEnabled val="1"/>
        </dgm:presLayoutVars>
      </dgm:prSet>
      <dgm:spPr/>
    </dgm:pt>
    <dgm:pt modelId="{96F8F76B-D695-4D5C-B37F-8740F9B8E78A}" type="pres">
      <dgm:prSet presAssocID="{78550ECB-8C6E-4B9D-BF3F-9AB410C82E33}" presName="bgRect" presStyleLbl="bgAccFollowNode1" presStyleIdx="1" presStyleCnt="2"/>
      <dgm:spPr/>
    </dgm:pt>
    <dgm:pt modelId="{2D624819-174E-48D5-B2D7-E04D75FF4F24}" type="pres">
      <dgm:prSet presAssocID="{EBB2ACE5-C314-40EA-9A16-53F2019A97A3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0F1E4893-98FF-419B-9946-7839369D66E9}" type="pres">
      <dgm:prSet presAssocID="{78550ECB-8C6E-4B9D-BF3F-9AB410C82E33}" presName="bottomLine" presStyleLbl="alignNode1" presStyleIdx="3" presStyleCnt="4">
        <dgm:presLayoutVars/>
      </dgm:prSet>
      <dgm:spPr/>
    </dgm:pt>
    <dgm:pt modelId="{84B976AC-FF32-46A2-9FE0-E8E6F30AEE54}" type="pres">
      <dgm:prSet presAssocID="{78550ECB-8C6E-4B9D-BF3F-9AB410C82E33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51AFF300-4EB7-4F31-8269-05A40804ED66}" type="presOf" srcId="{78550ECB-8C6E-4B9D-BF3F-9AB410C82E33}" destId="{96F8F76B-D695-4D5C-B37F-8740F9B8E78A}" srcOrd="0" destOrd="0" presId="urn:microsoft.com/office/officeart/2016/7/layout/BasicLinearProcessNumbered"/>
    <dgm:cxn modelId="{B4FAE409-04CD-4603-91DE-81D6B85ED207}" type="presOf" srcId="{79A8B9CB-4510-4313-A47F-59FF7069D05B}" destId="{D88F9705-44EB-4D18-85B8-AE137E659616}" srcOrd="0" destOrd="0" presId="urn:microsoft.com/office/officeart/2016/7/layout/BasicLinearProcessNumbered"/>
    <dgm:cxn modelId="{5AD54514-8590-4D90-BE9A-0C4C4EBEA54F}" srcId="{79A8B9CB-4510-4313-A47F-59FF7069D05B}" destId="{F28E56FB-1D91-4424-A280-63E794BC042C}" srcOrd="0" destOrd="0" parTransId="{68BD4090-37E8-4A7B-889E-2DBDA66E8DC2}" sibTransId="{D83DB900-B6E9-4B83-AD3E-66EE40747B07}"/>
    <dgm:cxn modelId="{AAA31464-F0A9-46B9-9A7A-0F236786331D}" type="presOf" srcId="{F28E56FB-1D91-4424-A280-63E794BC042C}" destId="{BA5FCEFD-0ED6-4CF5-8657-7EF878ED4770}" srcOrd="0" destOrd="0" presId="urn:microsoft.com/office/officeart/2016/7/layout/BasicLinearProcessNumbered"/>
    <dgm:cxn modelId="{B50E7957-96FA-4C6F-BD30-355C7FDEA609}" srcId="{78550ECB-8C6E-4B9D-BF3F-9AB410C82E33}" destId="{861EF2AB-0967-4F00-8880-2539749A9EE3}" srcOrd="0" destOrd="0" parTransId="{62A37102-F9F0-4293-9471-05018C70D5E5}" sibTransId="{C9611F3D-B550-471A-9CEB-B54F5250AECF}"/>
    <dgm:cxn modelId="{8076EA5A-4B69-4C32-BEA9-D0F59899A798}" type="presOf" srcId="{78550ECB-8C6E-4B9D-BF3F-9AB410C82E33}" destId="{84B976AC-FF32-46A2-9FE0-E8E6F30AEE54}" srcOrd="1" destOrd="0" presId="urn:microsoft.com/office/officeart/2016/7/layout/BasicLinearProcessNumbered"/>
    <dgm:cxn modelId="{AA8EAF81-14B4-4F45-BF9D-6663CC71DE23}" type="presOf" srcId="{F28E56FB-1D91-4424-A280-63E794BC042C}" destId="{0C948261-E82A-4BF5-9F5A-6543EAE74596}" srcOrd="1" destOrd="0" presId="urn:microsoft.com/office/officeart/2016/7/layout/BasicLinearProcessNumbered"/>
    <dgm:cxn modelId="{9989FD91-08AB-4655-92B6-B39BD55FE801}" srcId="{F28E56FB-1D91-4424-A280-63E794BC042C}" destId="{37C7D0DD-89C7-4EF4-BF00-4FF3E9D98FC1}" srcOrd="0" destOrd="0" parTransId="{BB300F1B-4068-4D75-8F5E-07A0DDE3A2FE}" sibTransId="{FC82F993-A736-40D8-992A-FCAA8FF52E4A}"/>
    <dgm:cxn modelId="{4743A299-720A-495F-92F4-F5DD51173A32}" type="presOf" srcId="{D83DB900-B6E9-4B83-AD3E-66EE40747B07}" destId="{34D3752F-5478-4954-9A46-5942237FBB4D}" srcOrd="0" destOrd="0" presId="urn:microsoft.com/office/officeart/2016/7/layout/BasicLinearProcessNumbered"/>
    <dgm:cxn modelId="{72DCA1BF-0B04-4615-9B14-15A3BD99B6F6}" type="presOf" srcId="{37C7D0DD-89C7-4EF4-BF00-4FF3E9D98FC1}" destId="{0C948261-E82A-4BF5-9F5A-6543EAE74596}" srcOrd="0" destOrd="1" presId="urn:microsoft.com/office/officeart/2016/7/layout/BasicLinearProcessNumbered"/>
    <dgm:cxn modelId="{2825F5CD-E7D1-49D9-80CE-11B054BE7E5B}" srcId="{79A8B9CB-4510-4313-A47F-59FF7069D05B}" destId="{78550ECB-8C6E-4B9D-BF3F-9AB410C82E33}" srcOrd="1" destOrd="0" parTransId="{552B5092-C3B3-455F-AD51-FB98CF411A7D}" sibTransId="{EBB2ACE5-C314-40EA-9A16-53F2019A97A3}"/>
    <dgm:cxn modelId="{FC2939ED-3B7C-48FC-8B3E-77D828269EA4}" type="presOf" srcId="{EBB2ACE5-C314-40EA-9A16-53F2019A97A3}" destId="{2D624819-174E-48D5-B2D7-E04D75FF4F24}" srcOrd="0" destOrd="0" presId="urn:microsoft.com/office/officeart/2016/7/layout/BasicLinearProcessNumbered"/>
    <dgm:cxn modelId="{E99651F3-ABB3-4A4B-921A-94F5151DFEFC}" type="presOf" srcId="{861EF2AB-0967-4F00-8880-2539749A9EE3}" destId="{84B976AC-FF32-46A2-9FE0-E8E6F30AEE54}" srcOrd="0" destOrd="1" presId="urn:microsoft.com/office/officeart/2016/7/layout/BasicLinearProcessNumbered"/>
    <dgm:cxn modelId="{5FE430EF-1448-4400-9133-EDC1E30B7F59}" type="presParOf" srcId="{D88F9705-44EB-4D18-85B8-AE137E659616}" destId="{8C947E7B-71D4-427D-BE8D-A2C07FDE9443}" srcOrd="0" destOrd="0" presId="urn:microsoft.com/office/officeart/2016/7/layout/BasicLinearProcessNumbered"/>
    <dgm:cxn modelId="{D3DB0D4A-13C3-40B3-B42B-74FBAD564C01}" type="presParOf" srcId="{8C947E7B-71D4-427D-BE8D-A2C07FDE9443}" destId="{BA5FCEFD-0ED6-4CF5-8657-7EF878ED4770}" srcOrd="0" destOrd="0" presId="urn:microsoft.com/office/officeart/2016/7/layout/BasicLinearProcessNumbered"/>
    <dgm:cxn modelId="{C01EC363-D823-49F3-A35A-075219F63C60}" type="presParOf" srcId="{8C947E7B-71D4-427D-BE8D-A2C07FDE9443}" destId="{34D3752F-5478-4954-9A46-5942237FBB4D}" srcOrd="1" destOrd="0" presId="urn:microsoft.com/office/officeart/2016/7/layout/BasicLinearProcessNumbered"/>
    <dgm:cxn modelId="{684A8A38-8809-42AB-B425-39A2D6078782}" type="presParOf" srcId="{8C947E7B-71D4-427D-BE8D-A2C07FDE9443}" destId="{6DEC8A3D-A735-41C7-98E8-59CB3A765FD9}" srcOrd="2" destOrd="0" presId="urn:microsoft.com/office/officeart/2016/7/layout/BasicLinearProcessNumbered"/>
    <dgm:cxn modelId="{E379875B-0206-48A4-A708-75C486C07469}" type="presParOf" srcId="{8C947E7B-71D4-427D-BE8D-A2C07FDE9443}" destId="{0C948261-E82A-4BF5-9F5A-6543EAE74596}" srcOrd="3" destOrd="0" presId="urn:microsoft.com/office/officeart/2016/7/layout/BasicLinearProcessNumbered"/>
    <dgm:cxn modelId="{5EDFEADF-3369-47D5-B65B-0032930DEB66}" type="presParOf" srcId="{D88F9705-44EB-4D18-85B8-AE137E659616}" destId="{ADBFD186-9B32-4C05-8A87-96A69989B5FA}" srcOrd="1" destOrd="0" presId="urn:microsoft.com/office/officeart/2016/7/layout/BasicLinearProcessNumbered"/>
    <dgm:cxn modelId="{CD204D05-AADC-4D2F-AC93-95A07F82B984}" type="presParOf" srcId="{D88F9705-44EB-4D18-85B8-AE137E659616}" destId="{1A4B8BC4-7AAC-4932-93A3-CEFE15F17656}" srcOrd="2" destOrd="0" presId="urn:microsoft.com/office/officeart/2016/7/layout/BasicLinearProcessNumbered"/>
    <dgm:cxn modelId="{A7C5AE21-1E98-4CD6-A4DB-BD7A39DDDA28}" type="presParOf" srcId="{1A4B8BC4-7AAC-4932-93A3-CEFE15F17656}" destId="{96F8F76B-D695-4D5C-B37F-8740F9B8E78A}" srcOrd="0" destOrd="0" presId="urn:microsoft.com/office/officeart/2016/7/layout/BasicLinearProcessNumbered"/>
    <dgm:cxn modelId="{A66A664D-641C-46EC-A351-29403599BED9}" type="presParOf" srcId="{1A4B8BC4-7AAC-4932-93A3-CEFE15F17656}" destId="{2D624819-174E-48D5-B2D7-E04D75FF4F24}" srcOrd="1" destOrd="0" presId="urn:microsoft.com/office/officeart/2016/7/layout/BasicLinearProcessNumbered"/>
    <dgm:cxn modelId="{F92741AE-1405-4AAC-99C0-4DD36B2B2F9C}" type="presParOf" srcId="{1A4B8BC4-7AAC-4932-93A3-CEFE15F17656}" destId="{0F1E4893-98FF-419B-9946-7839369D66E9}" srcOrd="2" destOrd="0" presId="urn:microsoft.com/office/officeart/2016/7/layout/BasicLinearProcessNumbered"/>
    <dgm:cxn modelId="{D31A0121-7E4F-476D-B6C5-A00F6A472ACA}" type="presParOf" srcId="{1A4B8BC4-7AAC-4932-93A3-CEFE15F17656}" destId="{84B976AC-FF32-46A2-9FE0-E8E6F30AEE54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5FCEFD-0ED6-4CF5-8657-7EF878ED4770}">
      <dsp:nvSpPr>
        <dsp:cNvPr id="0" name=""/>
        <dsp:cNvSpPr/>
      </dsp:nvSpPr>
      <dsp:spPr>
        <a:xfrm>
          <a:off x="1235" y="0"/>
          <a:ext cx="4817566" cy="356616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5596" tIns="330200" rIns="375596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Design an RS232 simulator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Implement features like clock drift, non return to zero encoding, variable data length, and start and stop bits</a:t>
          </a:r>
        </a:p>
      </dsp:txBody>
      <dsp:txXfrm>
        <a:off x="1235" y="1355140"/>
        <a:ext cx="4817566" cy="2139696"/>
      </dsp:txXfrm>
    </dsp:sp>
    <dsp:sp modelId="{34D3752F-5478-4954-9A46-5942237FBB4D}">
      <dsp:nvSpPr>
        <dsp:cNvPr id="0" name=""/>
        <dsp:cNvSpPr/>
      </dsp:nvSpPr>
      <dsp:spPr>
        <a:xfrm>
          <a:off x="1875094" y="356615"/>
          <a:ext cx="1069848" cy="106984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10" tIns="12700" rIns="8341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2031770" y="513291"/>
        <a:ext cx="756496" cy="756496"/>
      </dsp:txXfrm>
    </dsp:sp>
    <dsp:sp modelId="{6DEC8A3D-A735-41C7-98E8-59CB3A765FD9}">
      <dsp:nvSpPr>
        <dsp:cNvPr id="0" name=""/>
        <dsp:cNvSpPr/>
      </dsp:nvSpPr>
      <dsp:spPr>
        <a:xfrm>
          <a:off x="1235" y="3566088"/>
          <a:ext cx="4817566" cy="72"/>
        </a:xfrm>
        <a:prstGeom prst="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F8F76B-D695-4D5C-B37F-8740F9B8E78A}">
      <dsp:nvSpPr>
        <dsp:cNvPr id="0" name=""/>
        <dsp:cNvSpPr/>
      </dsp:nvSpPr>
      <dsp:spPr>
        <a:xfrm>
          <a:off x="5300558" y="0"/>
          <a:ext cx="4817566" cy="3566160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5596" tIns="330200" rIns="375596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Plot and display results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latin typeface="Aptos Display" panose="020F0302020204030204"/>
            </a:rPr>
            <a:t>Display the simulated transmission line along with an ideal clock signal.</a:t>
          </a:r>
        </a:p>
      </dsp:txBody>
      <dsp:txXfrm>
        <a:off x="5300558" y="1355140"/>
        <a:ext cx="4817566" cy="2139696"/>
      </dsp:txXfrm>
    </dsp:sp>
    <dsp:sp modelId="{2D624819-174E-48D5-B2D7-E04D75FF4F24}">
      <dsp:nvSpPr>
        <dsp:cNvPr id="0" name=""/>
        <dsp:cNvSpPr/>
      </dsp:nvSpPr>
      <dsp:spPr>
        <a:xfrm>
          <a:off x="7174417" y="356615"/>
          <a:ext cx="1069848" cy="1069848"/>
        </a:xfrm>
        <a:prstGeom prst="ellipse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10" tIns="12700" rIns="8341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7331093" y="513291"/>
        <a:ext cx="756496" cy="756496"/>
      </dsp:txXfrm>
    </dsp:sp>
    <dsp:sp modelId="{0F1E4893-98FF-419B-9946-7839369D66E9}">
      <dsp:nvSpPr>
        <dsp:cNvPr id="0" name=""/>
        <dsp:cNvSpPr/>
      </dsp:nvSpPr>
      <dsp:spPr>
        <a:xfrm>
          <a:off x="5300558" y="3566088"/>
          <a:ext cx="4817566" cy="72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RS232 Simulation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By Kashyap Rao and Ryan </a:t>
            </a:r>
            <a:r>
              <a:rPr lang="en-US" dirty="0" err="1"/>
              <a:t>Obuchon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23CD1C-EEC2-83A4-1C55-749B50ED0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Goals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6566969-F813-4CC5-B3E9-363D85B55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881264" y="-5116"/>
            <a:ext cx="3318648" cy="2490264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8CF66C-45E2-456B-92B0-9E97A331D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65D590E-D70D-4D25-B853-D5208F2AA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231501E-3F84-4705-A001-13995FA6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2617E4-47FD-4C38-8F70-93BF9B125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17D733-97B6-4C43-AF0C-5E3CB0EA1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07887"/>
            <a:ext cx="2605762" cy="2252847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D288266-7E76-4D4A-BAAC-E233FA013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697F88A-8624-4BA2-AF06-E6C3A52F0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A77163-C052-481C-9DCF-68C23ACA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2B425B5-0A0E-4B85-B718-E5DA73431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7EBB883C-E33F-F5CB-D598-27353EBF50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7118761"/>
              </p:ext>
            </p:extLst>
          </p:nvPr>
        </p:nvGraphicFramePr>
        <p:xfrm>
          <a:off x="1036320" y="2560320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2421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E7DDD-4576-D241-98BC-3799A787A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Overview: What is RS232?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4D485-2D9D-E7DF-4AC0-ADD94D262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6073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RS232 is a communication protocol standard used in IO devices and industrial technology(PLCs).</a:t>
            </a:r>
          </a:p>
          <a:p>
            <a:r>
              <a:rPr lang="en-US" dirty="0"/>
              <a:t>It is a full duplex communication protocol that uses positive and negative voltages.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Device 1 TX -&gt; Device 2 RX, Device 1 RX -&gt; Device 2 TX</a:t>
            </a:r>
          </a:p>
        </p:txBody>
      </p:sp>
      <p:pic>
        <p:nvPicPr>
          <p:cNvPr id="4" name="Picture 3" descr="undefined">
            <a:extLst>
              <a:ext uri="{FF2B5EF4-FFF2-40B4-BE49-F238E27FC236}">
                <a16:creationId xmlns:a16="http://schemas.microsoft.com/office/drawing/2014/main" id="{CDC0DF97-18BA-C663-3F3E-24B3330C2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617" y="1827557"/>
            <a:ext cx="5709203" cy="411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289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25FA8-6D37-B3F6-6D59-CECA04D24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 world use cases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2458F-973F-7907-C5F3-173813E8A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Allows testing and verifying serial communication </a:t>
            </a:r>
            <a:r>
              <a:rPr lang="en-US" b="1">
                <a:ea typeface="+mn-lt"/>
                <a:cs typeface="+mn-lt"/>
              </a:rPr>
              <a:t>without physical hardware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Visualizes actual RS-232 waveforms, including </a:t>
            </a:r>
            <a:r>
              <a:rPr lang="en-US" b="1">
                <a:ea typeface="+mn-lt"/>
                <a:cs typeface="+mn-lt"/>
              </a:rPr>
              <a:t>bit timing, polarity, and idle states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Helps identify issues like </a:t>
            </a:r>
            <a:r>
              <a:rPr lang="en-US" b="1">
                <a:ea typeface="+mn-lt"/>
                <a:cs typeface="+mn-lt"/>
              </a:rPr>
              <a:t>incorrect baud rate, framing errors, or wrong bit order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Useful for embedded and firmware debugging when oscilloscopes or analyzers aren’t available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Enables easy comparison of multiple transmissions on the same plot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Provides an educational tool for understanding </a:t>
            </a:r>
            <a:r>
              <a:rPr lang="en-US" b="1">
                <a:ea typeface="+mn-lt"/>
                <a:cs typeface="+mn-lt"/>
              </a:rPr>
              <a:t>asynchronous serial encoding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Supports early development before the electrical interface is fully designed or built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141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D273A-7B09-E96D-F38B-D8F7237D1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Features</a:t>
            </a:r>
          </a:p>
        </p:txBody>
      </p:sp>
      <p:pic>
        <p:nvPicPr>
          <p:cNvPr id="4" name="Content Placeholder 3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FA9AEADA-2861-732C-5F38-9CB90082A7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22486" y="1836668"/>
            <a:ext cx="6001288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74BCDE-C112-735E-61F1-F8F08CEF11C8}"/>
              </a:ext>
            </a:extLst>
          </p:cNvPr>
          <p:cNvSpPr txBox="1"/>
          <p:nvPr/>
        </p:nvSpPr>
        <p:spPr>
          <a:xfrm>
            <a:off x="979886" y="2415364"/>
            <a:ext cx="4623409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2400" dirty="0"/>
              <a:t>Generates an ideal clock file to use as a reference measurement</a:t>
            </a:r>
          </a:p>
          <a:p>
            <a:pPr marL="285750" indent="-285750">
              <a:buFont typeface="Calibri"/>
              <a:buChar char="-"/>
            </a:pPr>
            <a:r>
              <a:rPr lang="en-US" sz="2400" dirty="0"/>
              <a:t>Implements randomization of a 9600bps clock to simulate clock drift due to noise</a:t>
            </a:r>
          </a:p>
          <a:p>
            <a:pPr marL="285750" indent="-285750">
              <a:buFont typeface="Calibri"/>
              <a:buChar char="-"/>
            </a:pPr>
            <a:r>
              <a:rPr lang="en-US" sz="2400" dirty="0"/>
              <a:t>Simulates Non Return to Zero Encoding for Least Significant Bit Transmission.</a:t>
            </a:r>
          </a:p>
        </p:txBody>
      </p:sp>
    </p:spTree>
    <p:extLst>
      <p:ext uri="{BB962C8B-B14F-4D97-AF65-F5344CB8AC3E}">
        <p14:creationId xmlns:p14="http://schemas.microsoft.com/office/powerpoint/2010/main" val="3507079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BBDCD-B0B6-1B46-46A0-65AFA4091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Python plotter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67B7-135C-C614-83C9-A139EF00C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>
                <a:ea typeface="+mn-lt"/>
                <a:cs typeface="+mn-lt"/>
              </a:rPr>
              <a:t>Reads simulation output files containing </a:t>
            </a:r>
            <a:r>
              <a:rPr lang="en-US" b="1">
                <a:ea typeface="+mn-lt"/>
                <a:cs typeface="+mn-lt"/>
              </a:rPr>
              <a:t>logic level + timestamp</a:t>
            </a:r>
            <a:r>
              <a:rPr lang="en-US">
                <a:ea typeface="+mn-lt"/>
                <a:cs typeface="+mn-lt"/>
              </a:rPr>
              <a:t> pairs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Converts logic levels into actual RS-232 voltages (</a:t>
            </a:r>
            <a:r>
              <a:rPr lang="en-US" b="1">
                <a:ea typeface="+mn-lt"/>
                <a:cs typeface="+mn-lt"/>
              </a:rPr>
              <a:t>+10 V / –10 V</a:t>
            </a:r>
            <a:r>
              <a:rPr lang="en-US">
                <a:ea typeface="+mn-lt"/>
                <a:cs typeface="+mn-lt"/>
              </a:rPr>
              <a:t>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Automatically inserts </a:t>
            </a:r>
            <a:r>
              <a:rPr lang="en-US" b="1">
                <a:ea typeface="+mn-lt"/>
                <a:cs typeface="+mn-lt"/>
              </a:rPr>
              <a:t>idle negative voltage</a:t>
            </a:r>
            <a:r>
              <a:rPr lang="en-US">
                <a:ea typeface="+mn-lt"/>
                <a:cs typeface="+mn-lt"/>
              </a:rPr>
              <a:t> before and after the data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Adds small </a:t>
            </a:r>
            <a:r>
              <a:rPr lang="en-US" b="1">
                <a:ea typeface="+mn-lt"/>
                <a:cs typeface="+mn-lt"/>
              </a:rPr>
              <a:t>rise/fall slopes</a:t>
            </a:r>
            <a:r>
              <a:rPr lang="en-US">
                <a:ea typeface="+mn-lt"/>
                <a:cs typeface="+mn-lt"/>
              </a:rPr>
              <a:t> to transitions to mimic real physical signals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Converts raw timestamps into </a:t>
            </a:r>
            <a:r>
              <a:rPr lang="en-US" b="1">
                <a:ea typeface="+mn-lt"/>
                <a:cs typeface="+mn-lt"/>
              </a:rPr>
              <a:t>milliseconds</a:t>
            </a:r>
            <a:r>
              <a:rPr lang="en-US">
                <a:ea typeface="+mn-lt"/>
                <a:cs typeface="+mn-lt"/>
              </a:rPr>
              <a:t> for readable timing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Supports </a:t>
            </a:r>
            <a:r>
              <a:rPr lang="en-US" b="1">
                <a:ea typeface="+mn-lt"/>
                <a:cs typeface="+mn-lt"/>
              </a:rPr>
              <a:t>multiple files</a:t>
            </a:r>
            <a:r>
              <a:rPr lang="en-US">
                <a:ea typeface="+mn-lt"/>
                <a:cs typeface="+mn-lt"/>
              </a:rPr>
              <a:t> plotted on the same axes for visual comparison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Uses different </a:t>
            </a:r>
            <a:r>
              <a:rPr lang="en-US" b="1">
                <a:ea typeface="+mn-lt"/>
                <a:cs typeface="+mn-lt"/>
              </a:rPr>
              <a:t>colors and line styles</a:t>
            </a:r>
            <a:r>
              <a:rPr lang="en-US">
                <a:ea typeface="+mn-lt"/>
                <a:cs typeface="+mn-lt"/>
              </a:rPr>
              <a:t> (e.g., dashed for second file)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Produces a clean, accurate waveform that reflects </a:t>
            </a:r>
            <a:r>
              <a:rPr lang="en-US" b="1">
                <a:ea typeface="+mn-lt"/>
                <a:cs typeface="+mn-lt"/>
              </a:rPr>
              <a:t>true RS-232 behavior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176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nserting image...">
            <a:extLst>
              <a:ext uri="{FF2B5EF4-FFF2-40B4-BE49-F238E27FC236}">
                <a16:creationId xmlns:a16="http://schemas.microsoft.com/office/drawing/2014/main" id="{A5B75FA9-B022-6E3C-BAE9-E9870C529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316143"/>
            <a:ext cx="10905066" cy="422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70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2C207-581A-6CCE-37E4-0C93F884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 and Future Improvements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AA9BF-261D-B8DD-8CCD-2C9AF66E9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>
                <a:ea typeface="+mn-lt"/>
                <a:cs typeface="+mn-lt"/>
              </a:rPr>
              <a:t>Simulator does not model analog effects such as noise, ringing, overshoot, or line capacitance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Only supports a fixed baud rate (9600 bps) and a single encoding format (NRZ, LSB-first)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No support for parity bits, variable stop bits, or multi-byte streaming with proper framing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Clock drift is randomized but does not emulate full physical oscillator behavior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Python plotter does not decode bytes or validate data integrity—visual only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Simulation focuses on TX behavior only; no feedback or error handling from a receiver side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025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FC959-0316-265E-C6F1-3E50E0FB7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6E1EA-55D3-6554-A7CC-D81E9EA94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>
                <a:ea typeface="+mn-lt"/>
                <a:cs typeface="+mn-lt"/>
              </a:rPr>
              <a:t>Successfully simulated RS-232 signaling behavior, including NRZ encoding and realistic timing drift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Demonstrated how logic-level data translates into physical voltage waveforms on an asynchronous serial line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Verified correctness of transmission patterns through visualization, reducing reliance on physical hardware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Python plotter enabled fast comparison of multiple signal outputs, improving debugging and validation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Showed how simulation tools can model real-world communication challenges such as clock drift and rise/fall times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Provided an educational, accessible method for understanding serial communication at both the logical and electrical levels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Overall, the project delivered a practical and flexible framework for analyzing and validating RS-232 communication systems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314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RS232 Simulation</vt:lpstr>
      <vt:lpstr>Goals</vt:lpstr>
      <vt:lpstr>Overview: What is RS232?</vt:lpstr>
      <vt:lpstr>Real world use cases </vt:lpstr>
      <vt:lpstr>Program Features</vt:lpstr>
      <vt:lpstr>Python plotter</vt:lpstr>
      <vt:lpstr>PowerPoint Presentation</vt:lpstr>
      <vt:lpstr>Limitations and Future Improvements </vt:lpstr>
      <vt:lpstr>Conclusion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443</cp:revision>
  <dcterms:created xsi:type="dcterms:W3CDTF">2025-11-16T04:12:48Z</dcterms:created>
  <dcterms:modified xsi:type="dcterms:W3CDTF">2025-11-16T04:36:16Z</dcterms:modified>
</cp:coreProperties>
</file>