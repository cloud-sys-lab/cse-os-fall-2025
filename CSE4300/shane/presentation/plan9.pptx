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3880-89E0-E4D4-3BEF-AE0D9EBCF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9B075-5BFB-FA79-A069-5737496D2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03F19-4A5B-3F10-F856-FA08E1D7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C3FA8-E7E7-56C5-93B3-04DF0695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236C2-B839-916F-683C-583BF35D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E567-5099-E1A9-F8D2-C2294925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536F2-6810-92A8-647F-176C3E289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6A76D-EBFB-8E89-B218-1464104F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45C96-BA17-7714-4356-68A16AF5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14AB6-438F-90D5-8E06-72728DAA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9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0CC8-A232-4441-850B-20E04653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D56A8-A2AF-CDD4-3BF6-15478CD2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BE701-1970-F28F-E564-D8AC8F16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5C7D-AC82-82F1-F3DD-44F768BB5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2F5CD-DC5B-25E7-8F8B-47E393E2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7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7EA5-8A5E-4F52-B633-4BFF1FE8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2B6CC-B8FF-54E4-4FF7-09FE40B10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D9AD2-3233-5ABB-5209-42B85DB3B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F18BC-3995-2CF2-BA51-A8556941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270DE-9594-A3C8-BE78-579C7C1F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B19FD-A5E4-5E41-B660-6C5DBFA3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3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08F4D-19D2-00DE-22F0-BE1A510C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6D30F-4FCD-2DD5-8224-2B7C6273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3A92A-83F6-D7A3-C441-D8CD43B6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2269B-87BA-ACDF-9574-80ECF8657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37813-09AB-8FD3-AF70-6D147A815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3F3601-0F7A-17A2-84F8-A1A22E01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F3322-2B6E-CB30-EAC1-F1092549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474E2-3942-AB13-3F23-79EF997A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1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011F-1F6B-BFFA-149E-0C9B8004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A5DE7-1A86-3F9C-A550-9FDAE57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A359D-6604-5BDC-5BBB-A2B8CCEA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E2BA1-1C02-B2E3-EB00-4DB46C1B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8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1EFB3-8391-B165-C152-A1FE888F2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6AD40-C4B9-02D9-218D-E95356D9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B1151-5FF6-185E-C093-D73CCB1D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2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6161-CDEF-85B7-5F8C-5E1ADC50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722EC-2292-C934-CA9C-2929AE7E2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12442-E1EA-B06E-4A2C-808AB8954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ED532-A7BE-0CA6-DDE9-074A6CDFB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CB088-3A42-F683-AE5E-063C37E9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9C350-3F7D-09B5-EF61-F2369A4A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7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E9F6-78B7-83DC-E7D8-5ED961FD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43843-7A26-CFD3-DF79-FF308F8F7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044C1-5862-32ED-9654-7100E51F8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9B4A1-5240-515F-669C-058915E6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4E476-20B9-FC7D-A7AD-B8B4E1EB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ADAE6-B93D-1A88-735A-061CB24B1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01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2D87-C01D-05E4-92E5-88F92A65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B15C4-FE0E-1BF3-553A-5DD0D08AB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48944-47B7-8017-C2E6-FAEDBF6C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6A5F-BDC5-4104-AE23-03D12515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F70D2-162C-5BAA-8E4F-26CD10AD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0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F9493-B2AA-5B52-55A3-D95D9A47D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C3B7A-4977-5944-9130-9D1A96402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831EF-C37E-F0B5-37B8-085AC1F7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84707-226C-B729-55F6-B44D6258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7BFD-53E2-7D19-805D-999C9FC4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8193A-1A48-E3B9-C47F-A9DF7446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7F2A5-C371-F4FF-50C4-34C270090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A42C6-5BA7-505B-5EEC-7D94B9780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D22EA-AD72-4458-90B3-66622A34892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21C9-19CA-813D-86EE-971A37832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41021-22FB-7836-19E9-220A73CD8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A8157-BF17-4578-A444-DE44462F5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2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gif"/><Relationship Id="rId7" Type="http://schemas.openxmlformats.org/officeDocument/2006/relationships/image" Target="../media/image2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D641-4CB6-F472-DA1A-A5F720FD7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4909"/>
            <a:ext cx="9144000" cy="1655763"/>
          </a:xfrm>
        </p:spPr>
        <p:txBody>
          <a:bodyPr anchor="ctr"/>
          <a:lstStyle/>
          <a:p>
            <a:r>
              <a:rPr lang="en-US" b="1" dirty="0">
                <a:latin typeface="Lucida Console" panose="020B0609040504020204" pitchFamily="49" charset="0"/>
                <a:cs typeface="Courier New" panose="02070309020205020404" pitchFamily="49" charset="0"/>
              </a:rPr>
              <a:t>Plan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B2A21-3D30-B73F-11E5-2A4F20BED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20672"/>
            <a:ext cx="9144000" cy="68514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Lucida Console" panose="020B0609040504020204" pitchFamily="49" charset="0"/>
              </a:rPr>
              <a:t>A New Paradigm for Operating Systems</a:t>
            </a:r>
          </a:p>
        </p:txBody>
      </p:sp>
      <p:pic>
        <p:nvPicPr>
          <p:cNvPr id="5" name="Picture 4" descr="A cartoon rabbit with long ears&#10;&#10;AI-generated content may be incorrect.">
            <a:extLst>
              <a:ext uri="{FF2B5EF4-FFF2-40B4-BE49-F238E27FC236}">
                <a16:creationId xmlns:a16="http://schemas.microsoft.com/office/drawing/2014/main" id="{F0E3DC96-321A-28F5-9D31-FAE32A0E5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5209"/>
            <a:ext cx="2200856" cy="2392791"/>
          </a:xfrm>
          <a:prstGeom prst="rect">
            <a:avLst/>
          </a:prstGeom>
        </p:spPr>
      </p:pic>
      <p:pic>
        <p:nvPicPr>
          <p:cNvPr id="7" name="Picture 6" descr="A cartoon rabbit wearing a space suit&#10;&#10;AI-generated content may be incorrect.">
            <a:extLst>
              <a:ext uri="{FF2B5EF4-FFF2-40B4-BE49-F238E27FC236}">
                <a16:creationId xmlns:a16="http://schemas.microsoft.com/office/drawing/2014/main" id="{710676A5-CF2D-F714-02C2-971E93BEE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91144" y="4316426"/>
            <a:ext cx="2200856" cy="2541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B88203-2B9E-F6DB-0AA1-925F0621C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952" y="4661661"/>
            <a:ext cx="4930096" cy="68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8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6E47-F6E7-6322-2B63-14132C5B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67748D-8E59-E468-8459-8C5C419A3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735" y="1399381"/>
            <a:ext cx="5586331" cy="5284034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Began development in late 80s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Development led by a star-studded cast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Rob Pike, Brian Kernighan, Ken Thompson, Bjarne Stroustrup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Released to public in 1995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Fine-tuned for research and networking — not user-friendly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Unix: “Everything is a file”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ucida Console" panose="020B0609040504020204" pitchFamily="49" charset="0"/>
              </a:rPr>
              <a:t>Minimalism, portability, purity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Laid to rest Jan 10, 2015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Carried on by 9front, Inferno, 9legacy,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FF5F1-EF62-5799-2F58-E4B4517BF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9646" cy="53964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3BF3334F-76CD-E7C9-E7F5-942D228497F4}"/>
              </a:ext>
            </a:extLst>
          </p:cNvPr>
          <p:cNvSpPr txBox="1">
            <a:spLocks/>
          </p:cNvSpPr>
          <p:nvPr/>
        </p:nvSpPr>
        <p:spPr>
          <a:xfrm>
            <a:off x="1524000" y="714232"/>
            <a:ext cx="9144000" cy="685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Lucida Console" panose="020B0609040504020204" pitchFamily="49" charset="0"/>
              </a:rPr>
              <a:t>A Brief History</a:t>
            </a:r>
          </a:p>
        </p:txBody>
      </p:sp>
      <p:pic>
        <p:nvPicPr>
          <p:cNvPr id="1032" name="Picture 8" descr="APL9 An APL for Plan 9">
            <a:extLst>
              <a:ext uri="{FF2B5EF4-FFF2-40B4-BE49-F238E27FC236}">
                <a16:creationId xmlns:a16="http://schemas.microsoft.com/office/drawing/2014/main" id="{9CFF6CD3-EF23-E22B-F375-86CF9EAA2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459" y="4592796"/>
            <a:ext cx="2923082" cy="220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am (text editor) - Wikipedia">
            <a:extLst>
              <a:ext uri="{FF2B5EF4-FFF2-40B4-BE49-F238E27FC236}">
                <a16:creationId xmlns:a16="http://schemas.microsoft.com/office/drawing/2014/main" id="{933AEB45-B04E-9CA3-85AD-10F18364B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67" y="3429000"/>
            <a:ext cx="3338273" cy="266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43F4565-1A9D-534A-314D-FBC750DA2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316" y="1691881"/>
            <a:ext cx="4651949" cy="26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28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7F23-13FF-6D9A-39C3-97A32B4F8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33274E-3CCB-1DA1-13D6-B92125F91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9646" cy="539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D5B040-9BB5-02E8-0E4A-0E018CDE4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0"/>
            <a:ext cx="539646" cy="53964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8BEBCB19-24B7-7533-04C1-827534670908}"/>
              </a:ext>
            </a:extLst>
          </p:cNvPr>
          <p:cNvSpPr txBox="1">
            <a:spLocks/>
          </p:cNvSpPr>
          <p:nvPr/>
        </p:nvSpPr>
        <p:spPr>
          <a:xfrm>
            <a:off x="1524000" y="714232"/>
            <a:ext cx="9144000" cy="685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Lucida Console" panose="020B0609040504020204" pitchFamily="49" charset="0"/>
              </a:rPr>
              <a:t>Idiosyncrasies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262133E-411F-6412-608C-AD6EA4CAD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45" y="1374696"/>
            <a:ext cx="6955438" cy="5458619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Independent C library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No GNU, and no GCC! A dialect of C.</a:t>
            </a:r>
            <a:endParaRPr lang="en-US" sz="2000" dirty="0">
              <a:latin typeface="Lucida Console" panose="020B0609040504020204" pitchFamily="49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Custom, but portable, C compilers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Unique compiler for each architecture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8c for x86, 6c for AMD, 5c for ARM, 0c for MIPS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Lucida Console" panose="020B0609040504020204" pitchFamily="49" charset="0"/>
              </a:rPr>
              <a:t>9P</a:t>
            </a:r>
            <a:r>
              <a:rPr lang="en-US" sz="2000" dirty="0">
                <a:latin typeface="Lucida Console" panose="020B0609040504020204" pitchFamily="49" charset="0"/>
              </a:rPr>
              <a:t> network protocol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Used by Microsoft for WSL since 2019!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Independent windowing system (</a:t>
            </a:r>
            <a:r>
              <a:rPr lang="en-US" sz="2000" b="1" dirty="0" err="1">
                <a:latin typeface="Lucida Console" panose="020B0609040504020204" pitchFamily="49" charset="0"/>
              </a:rPr>
              <a:t>rio</a:t>
            </a:r>
            <a:r>
              <a:rPr lang="en-US" sz="2000" dirty="0">
                <a:latin typeface="Lucida Console" panose="020B0609040504020204" pitchFamily="49" charset="0"/>
              </a:rPr>
              <a:t>)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Doesn’t use X Window System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A distributed operating system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Total data communication transparency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Encourages cluster computing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Not Bash, not PowerShell, but </a:t>
            </a:r>
            <a:r>
              <a:rPr lang="en-US" sz="2000" b="1" dirty="0" err="1">
                <a:latin typeface="Lucida Console" panose="020B0609040504020204" pitchFamily="49" charset="0"/>
              </a:rPr>
              <a:t>rc</a:t>
            </a:r>
            <a:r>
              <a:rPr lang="en-US" sz="2000" dirty="0">
                <a:latin typeface="Lucida Console" panose="020B0609040504020204" pitchFamily="49" charset="0"/>
              </a:rPr>
              <a:t>!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Some commands are the same, many are different</a:t>
            </a:r>
          </a:p>
          <a:p>
            <a:pPr marL="914400" lvl="1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No symbolic links, and no </a:t>
            </a:r>
            <a:r>
              <a:rPr lang="en-US" sz="1600" dirty="0" err="1">
                <a:latin typeface="Lucida Console" panose="020B0609040504020204" pitchFamily="49" charset="0"/>
              </a:rPr>
              <a:t>sudo</a:t>
            </a:r>
            <a:r>
              <a:rPr lang="en-US" sz="1600" dirty="0">
                <a:latin typeface="Lucida Console" panose="020B0609040504020204" pitchFamily="49" charset="0"/>
              </a:rPr>
              <a:t> (it’s unsafe!)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58B657-33B0-9356-48F2-62346827B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090" y="3703979"/>
            <a:ext cx="3607265" cy="2574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57E738-0944-1919-FC15-AF988D47D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625" y="1095712"/>
            <a:ext cx="1354500" cy="22185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D12382-B97A-776A-934E-F530FF396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302" y="1505067"/>
            <a:ext cx="1105053" cy="20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4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D4221-180D-2321-DA70-52C1EEFD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CE5172-6502-1EF6-B478-B09180EFE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2" y="1573967"/>
            <a:ext cx="4856813" cy="4991725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Threads communicate via </a:t>
            </a:r>
            <a:r>
              <a:rPr lang="en-US" sz="2000" b="1" dirty="0">
                <a:latin typeface="Lucida Console" panose="020B0609040504020204" pitchFamily="49" charset="0"/>
              </a:rPr>
              <a:t>channels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Mutexes, condition variables, and locks are not necessary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dirty="0">
                <a:latin typeface="Lucida Console" panose="020B0609040504020204" pitchFamily="49" charset="0"/>
              </a:rPr>
              <a:t>Although they are provided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Lucida Console" panose="020B0609040504020204" pitchFamily="49" charset="0"/>
              </a:rPr>
              <a:t>send()</a:t>
            </a:r>
            <a:r>
              <a:rPr lang="en-US" sz="2000" dirty="0">
                <a:latin typeface="Lucida Console" panose="020B0609040504020204" pitchFamily="49" charset="0"/>
              </a:rPr>
              <a:t>:</a:t>
            </a:r>
            <a:r>
              <a:rPr lang="en-US" sz="2000" b="1" dirty="0">
                <a:latin typeface="Lucida Console" panose="020B0609040504020204" pitchFamily="49" charset="0"/>
              </a:rPr>
              <a:t> </a:t>
            </a:r>
            <a:r>
              <a:rPr lang="en-US" sz="2000" dirty="0">
                <a:latin typeface="Lucida Console" panose="020B0609040504020204" pitchFamily="49" charset="0"/>
              </a:rPr>
              <a:t>sends value  through channel, blocks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Lucida Console" panose="020B0609040504020204" pitchFamily="49" charset="0"/>
              </a:rPr>
              <a:t>recv</a:t>
            </a:r>
            <a:r>
              <a:rPr lang="en-US" sz="2000" b="1" dirty="0">
                <a:latin typeface="Lucida Console" panose="020B0609040504020204" pitchFamily="49" charset="0"/>
              </a:rPr>
              <a:t>()</a:t>
            </a:r>
            <a:r>
              <a:rPr lang="en-US" sz="2000" dirty="0">
                <a:latin typeface="Lucida Console" panose="020B0609040504020204" pitchFamily="49" charset="0"/>
              </a:rPr>
              <a:t>:</a:t>
            </a:r>
            <a:r>
              <a:rPr lang="en-US" sz="2000" b="1" dirty="0">
                <a:latin typeface="Lucida Console" panose="020B0609040504020204" pitchFamily="49" charset="0"/>
              </a:rPr>
              <a:t> </a:t>
            </a:r>
            <a:r>
              <a:rPr lang="en-US" sz="2000" dirty="0">
                <a:latin typeface="Lucida Console" panose="020B0609040504020204" pitchFamily="49" charset="0"/>
              </a:rPr>
              <a:t>receives value through channel, blocks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Lucida Console" panose="020B0609040504020204" pitchFamily="49" charset="0"/>
              </a:rPr>
              <a:t>chancreate</a:t>
            </a:r>
            <a:r>
              <a:rPr lang="en-US" sz="2000" b="1" dirty="0">
                <a:latin typeface="Lucida Console" panose="020B0609040504020204" pitchFamily="49" charset="0"/>
              </a:rPr>
              <a:t>()</a:t>
            </a:r>
            <a:r>
              <a:rPr lang="en-US" sz="2000" dirty="0">
                <a:latin typeface="Lucida Console" panose="020B0609040504020204" pitchFamily="49" charset="0"/>
              </a:rPr>
              <a:t>/</a:t>
            </a:r>
            <a:r>
              <a:rPr lang="en-US" sz="2000" b="1" dirty="0" err="1">
                <a:latin typeface="Lucida Console" panose="020B0609040504020204" pitchFamily="49" charset="0"/>
              </a:rPr>
              <a:t>chanclose</a:t>
            </a:r>
            <a:r>
              <a:rPr lang="en-US" sz="2000" b="1" dirty="0">
                <a:latin typeface="Lucida Console" panose="020B0609040504020204" pitchFamily="49" charset="0"/>
              </a:rPr>
              <a:t>() </a:t>
            </a:r>
            <a:r>
              <a:rPr lang="en-US" sz="2000" dirty="0">
                <a:latin typeface="Lucida Console" panose="020B0609040504020204" pitchFamily="49" charset="0"/>
              </a:rPr>
              <a:t>enforce synchronization – no primitives needed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Channels are powerful enough to implement </a:t>
            </a:r>
            <a:r>
              <a:rPr lang="en-US" sz="2000" b="1" dirty="0">
                <a:latin typeface="Lucida Console" panose="020B0609040504020204" pitchFamily="49" charset="0"/>
              </a:rPr>
              <a:t>pipes</a:t>
            </a:r>
            <a:r>
              <a:rPr lang="en-US" sz="2000" dirty="0">
                <a:latin typeface="Lucida Console" panose="020B0609040504020204" pitchFamily="49" charset="0"/>
              </a:rPr>
              <a:t>, </a:t>
            </a:r>
            <a:r>
              <a:rPr lang="en-US" sz="2000" b="1" dirty="0">
                <a:latin typeface="Lucida Console" panose="020B0609040504020204" pitchFamily="49" charset="0"/>
              </a:rPr>
              <a:t>sockets</a:t>
            </a:r>
            <a:r>
              <a:rPr lang="en-US" sz="2000" dirty="0">
                <a:latin typeface="Lucida Console" panose="020B0609040504020204" pitchFamily="49" charset="0"/>
              </a:rPr>
              <a:t>, and </a:t>
            </a:r>
            <a:r>
              <a:rPr lang="en-US" sz="2000" b="1" dirty="0">
                <a:latin typeface="Lucida Console" panose="020B0609040504020204" pitchFamily="49" charset="0"/>
              </a:rPr>
              <a:t>semaphores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Lucida Console" panose="020B06090405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33523-3A4D-8B66-5D8B-23B417075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9646" cy="539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E6CED0-E6AB-3498-B545-904D432E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0"/>
            <a:ext cx="539646" cy="53964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F23BAA91-462C-2199-3A45-856525E09C3D}"/>
              </a:ext>
            </a:extLst>
          </p:cNvPr>
          <p:cNvSpPr txBox="1">
            <a:spLocks/>
          </p:cNvSpPr>
          <p:nvPr/>
        </p:nvSpPr>
        <p:spPr>
          <a:xfrm>
            <a:off x="1524000" y="714232"/>
            <a:ext cx="9144000" cy="685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Lucida Console" panose="020B0609040504020204" pitchFamily="49" charset="0"/>
              </a:rPr>
              <a:t>Synchronization via Channels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BE7FC2-6A72-C61E-BEAB-46179600D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2" y="0"/>
            <a:ext cx="539646" cy="53964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2DAADA-0E33-7D28-C8FC-D0C713104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5213" y="1933731"/>
            <a:ext cx="7331876" cy="463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5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F3CF-865F-A888-CFBD-F27B1C89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2B1923-2CD4-4848-2101-588EFD2ED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892" y="1573966"/>
            <a:ext cx="5141626" cy="5161911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Same capabilities as POSIX threads, but with a different library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The iconic producer-consumer problem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Again, we use channels to avoid race conditions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Channels are “typed”, unlike Linux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Recall: </a:t>
            </a:r>
            <a:r>
              <a:rPr lang="en-US" sz="1600" b="1" dirty="0">
                <a:latin typeface="Lucida Console" panose="020B0609040504020204" pitchFamily="49" charset="0"/>
              </a:rPr>
              <a:t>send() </a:t>
            </a:r>
            <a:r>
              <a:rPr lang="en-US" sz="1600" dirty="0">
                <a:latin typeface="Lucida Console" panose="020B0609040504020204" pitchFamily="49" charset="0"/>
              </a:rPr>
              <a:t>vs. </a:t>
            </a:r>
            <a:r>
              <a:rPr lang="en-US" sz="1600" b="1" dirty="0" err="1">
                <a:latin typeface="Lucida Console" panose="020B0609040504020204" pitchFamily="49" charset="0"/>
              </a:rPr>
              <a:t>sendul</a:t>
            </a:r>
            <a:r>
              <a:rPr lang="en-US" sz="1600" b="1" dirty="0">
                <a:latin typeface="Lucida Console" panose="020B0609040504020204" pitchFamily="49" charset="0"/>
              </a:rPr>
              <a:t>()</a:t>
            </a:r>
            <a:r>
              <a:rPr lang="en-US" sz="1600" dirty="0">
                <a:latin typeface="Lucida Console" panose="020B0609040504020204" pitchFamily="49" charset="0"/>
              </a:rPr>
              <a:t>,     </a:t>
            </a:r>
            <a:r>
              <a:rPr lang="en-US" sz="1600" b="1" dirty="0">
                <a:latin typeface="Lucida Console" panose="020B0609040504020204" pitchFamily="49" charset="0"/>
              </a:rPr>
              <a:t> </a:t>
            </a:r>
            <a:r>
              <a:rPr lang="en-US" sz="1600" dirty="0">
                <a:latin typeface="Lucida Console" panose="020B0609040504020204" pitchFamily="49" charset="0"/>
              </a:rPr>
              <a:t>and </a:t>
            </a:r>
            <a:r>
              <a:rPr lang="en-US" sz="1600" b="1" dirty="0" err="1">
                <a:latin typeface="Lucida Console" panose="020B0609040504020204" pitchFamily="49" charset="0"/>
              </a:rPr>
              <a:t>recv</a:t>
            </a:r>
            <a:r>
              <a:rPr lang="en-US" sz="1600" b="1" dirty="0">
                <a:latin typeface="Lucida Console" panose="020B0609040504020204" pitchFamily="49" charset="0"/>
              </a:rPr>
              <a:t>() </a:t>
            </a:r>
            <a:r>
              <a:rPr lang="en-US" sz="1600" dirty="0">
                <a:latin typeface="Lucida Console" panose="020B0609040504020204" pitchFamily="49" charset="0"/>
              </a:rPr>
              <a:t>vs. </a:t>
            </a:r>
            <a:r>
              <a:rPr lang="en-US" sz="1600" b="1" dirty="0" err="1">
                <a:latin typeface="Lucida Console" panose="020B0609040504020204" pitchFamily="49" charset="0"/>
              </a:rPr>
              <a:t>recvul</a:t>
            </a:r>
            <a:r>
              <a:rPr lang="en-US" sz="1600" b="1" dirty="0">
                <a:latin typeface="Lucida Console" panose="020B0609040504020204" pitchFamily="49" charset="0"/>
              </a:rPr>
              <a:t>()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Lucida Console" panose="020B0609040504020204" pitchFamily="49" charset="0"/>
              </a:rPr>
              <a:t>Untyped (byte stream, pointers)  vs. typed (direct, pass by value)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Unlike Linux, no thread attributes, no joining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Writers and readers automatically synchronize thanks to rendezvous communication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CF39A-FC13-3126-53D8-E36BB6A62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9646" cy="539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7143C3-721D-05A1-3B06-24E04E6C7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0"/>
            <a:ext cx="539646" cy="53964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6F147570-FF2E-47C1-CABE-3B5DF1E693F0}"/>
              </a:ext>
            </a:extLst>
          </p:cNvPr>
          <p:cNvSpPr txBox="1">
            <a:spLocks/>
          </p:cNvSpPr>
          <p:nvPr/>
        </p:nvSpPr>
        <p:spPr>
          <a:xfrm>
            <a:off x="1524000" y="714232"/>
            <a:ext cx="9144000" cy="685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Lucida Console" panose="020B0609040504020204" pitchFamily="49" charset="0"/>
              </a:rPr>
              <a:t>Concurrency in Plan 9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38456F-3A4E-8DD9-7F71-2FC16CCC8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2" y="0"/>
            <a:ext cx="539646" cy="5396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3F7D76-D216-15B2-90DF-594084DC6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938" y="0"/>
            <a:ext cx="539646" cy="539646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6792B7-9FC0-A9DA-7B52-72B8B7FB3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06518" y="2503357"/>
            <a:ext cx="1366107" cy="4354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11709-73BF-EE59-C6D4-7F9C4C7C9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02" y="1507314"/>
            <a:ext cx="5641298" cy="535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8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62A69-E4C7-DB84-4157-63FC59EF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831A2E-C795-9878-4D10-C5B02BA6A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9646" cy="539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C83DA3-12C5-4436-1474-A09E18CD9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0"/>
            <a:ext cx="539646" cy="53964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BFE5270A-1D19-E836-4995-9799EAA3DA04}"/>
              </a:ext>
            </a:extLst>
          </p:cNvPr>
          <p:cNvSpPr txBox="1">
            <a:spLocks/>
          </p:cNvSpPr>
          <p:nvPr/>
        </p:nvSpPr>
        <p:spPr>
          <a:xfrm>
            <a:off x="1524000" y="714232"/>
            <a:ext cx="9144000" cy="685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Lucida Console" panose="020B0609040504020204" pitchFamily="49" charset="0"/>
              </a:rPr>
              <a:t>System Calls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74550B-31ED-29B6-53F8-966DD668E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2" y="0"/>
            <a:ext cx="539646" cy="5396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1A7561-B5CD-1084-F57A-E5F18479C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938" y="0"/>
            <a:ext cx="539646" cy="5396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FE7F80-4375-FAAD-49F2-0CA457911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584" y="0"/>
            <a:ext cx="539646" cy="5396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633F4A-F656-8D26-0740-6443E0DE4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831" y="2794988"/>
            <a:ext cx="3496163" cy="38010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BDBDE7-1DE5-CC64-7CAD-49D320AA0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224" y="1468401"/>
            <a:ext cx="3505689" cy="20767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CA5CA5-61EE-1E9D-858D-67614D443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61" y="3566620"/>
            <a:ext cx="3696216" cy="30293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15C9E3-785C-4D64-3487-01125202B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278" y="1568473"/>
            <a:ext cx="3715268" cy="10574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A5801E-3094-83DD-F217-B060554D90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69" y="4843148"/>
            <a:ext cx="3686689" cy="1752845"/>
          </a:xfrm>
          <a:prstGeom prst="rect">
            <a:avLst/>
          </a:prstGeom>
        </p:spPr>
      </p:pic>
      <p:sp>
        <p:nvSpPr>
          <p:cNvPr id="25" name="Subtitle 2">
            <a:extLst>
              <a:ext uri="{FF2B5EF4-FFF2-40B4-BE49-F238E27FC236}">
                <a16:creationId xmlns:a16="http://schemas.microsoft.com/office/drawing/2014/main" id="{9AF0259F-B1D8-159F-72B0-135A165BD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691" y="1622462"/>
            <a:ext cx="4211910" cy="3220686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Note the presence of a kernel-side </a:t>
            </a:r>
            <a:r>
              <a:rPr lang="en-US" sz="2000" b="1" dirty="0">
                <a:latin typeface="Lucida Console" panose="020B0609040504020204" pitchFamily="49" charset="0"/>
              </a:rPr>
              <a:t>note system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1600" i="1" dirty="0">
                <a:latin typeface="Lucida Console" panose="020B0609040504020204" pitchFamily="49" charset="0"/>
              </a:rPr>
              <a:t>Pun not intended</a:t>
            </a:r>
            <a:endParaRPr lang="en-US" sz="1600" dirty="0">
              <a:latin typeface="Lucida Console" panose="020B0609040504020204" pitchFamily="49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Single words of data may be exchanged via </a:t>
            </a:r>
            <a:r>
              <a:rPr lang="en-US" sz="2000" b="1" dirty="0">
                <a:latin typeface="Lucida Console" panose="020B0609040504020204" pitchFamily="49" charset="0"/>
              </a:rPr>
              <a:t>rendezvous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Plan 9: </a:t>
            </a:r>
            <a:r>
              <a:rPr lang="en-US" sz="2000" b="1" dirty="0">
                <a:latin typeface="Lucida Console" panose="020B0609040504020204" pitchFamily="49" charset="0"/>
              </a:rPr>
              <a:t>38 </a:t>
            </a:r>
            <a:r>
              <a:rPr lang="en-US" sz="2000" b="1" dirty="0" err="1">
                <a:latin typeface="Lucida Console" panose="020B0609040504020204" pitchFamily="49" charset="0"/>
              </a:rPr>
              <a:t>syscalls</a:t>
            </a:r>
            <a:r>
              <a:rPr lang="en-US" sz="2000" dirty="0">
                <a:latin typeface="Lucida Console" panose="020B0609040504020204" pitchFamily="49" charset="0"/>
              </a:rPr>
              <a:t>; Linux: Over 400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Lucida Console" panose="020B0609040504020204" pitchFamily="49" charset="0"/>
              </a:rPr>
              <a:t>Note: Plan 9 has </a:t>
            </a:r>
            <a:r>
              <a:rPr lang="en-US" sz="2000" b="1" dirty="0">
                <a:latin typeface="Lucida Console" panose="020B0609040504020204" pitchFamily="49" charset="0"/>
              </a:rPr>
              <a:t>no kernel threads</a:t>
            </a:r>
            <a:r>
              <a:rPr lang="en-US" sz="2000" dirty="0">
                <a:latin typeface="Lucida Console" panose="020B060904050402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5002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74C7-C56C-18C1-A520-B9732889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41F7C1-834E-2975-57E0-E78E74DEF732}"/>
              </a:ext>
            </a:extLst>
          </p:cNvPr>
          <p:cNvSpPr/>
          <p:nvPr/>
        </p:nvSpPr>
        <p:spPr>
          <a:xfrm>
            <a:off x="8428770" y="1753849"/>
            <a:ext cx="3646906" cy="33278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54CDB-8AF3-654B-9CAE-09F3A2F08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68" y="1489322"/>
            <a:ext cx="8759499" cy="5126636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Once-native Plan 9 development tools, like </a:t>
            </a:r>
            <a:r>
              <a:rPr lang="en-US" sz="2800" dirty="0" err="1">
                <a:latin typeface="Lucida Console" panose="020B0609040504020204" pitchFamily="49" charset="0"/>
              </a:rPr>
              <a:t>rc</a:t>
            </a:r>
            <a:r>
              <a:rPr lang="en-US" sz="2800" dirty="0">
                <a:latin typeface="Lucida Console" panose="020B0609040504020204" pitchFamily="49" charset="0"/>
              </a:rPr>
              <a:t>, acme, and plumbing have been ported to Linux, Mac, and Windows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The 9P filesystem is made use of today by Windows’ WSL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Served as a catalyst for the software minimalism movement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A pioneering system in grid computing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Served as the backbone for years of innovative research at Bell Labs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Ran by Coraid hardware (data storage)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Influenced Google’s Go-lang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Lucida Console" panose="020B0609040504020204" pitchFamily="49" charset="0"/>
              </a:rPr>
              <a:t>Inspired Inferno, 9front, and other OSes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5A73C4-6177-2B24-761E-5E2FCB388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9646" cy="539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770562-1CF6-D26F-3B8A-34CF90596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6" y="0"/>
            <a:ext cx="539646" cy="53964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BAB94FBA-9A5E-F78C-53A7-57CD5F23468E}"/>
              </a:ext>
            </a:extLst>
          </p:cNvPr>
          <p:cNvSpPr txBox="1">
            <a:spLocks/>
          </p:cNvSpPr>
          <p:nvPr/>
        </p:nvSpPr>
        <p:spPr>
          <a:xfrm>
            <a:off x="1524000" y="714232"/>
            <a:ext cx="9144000" cy="685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latin typeface="Lucida Console" panose="020B0609040504020204" pitchFamily="49" charset="0"/>
              </a:rPr>
              <a:t>Significance and Impact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9817A1-4C35-2890-191C-FFB01E78A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2" y="0"/>
            <a:ext cx="539646" cy="5396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2F387E-C34B-18EB-FE08-2D3E9457E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938" y="0"/>
            <a:ext cx="539646" cy="5396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5ECA5D-5D50-C68A-E2F3-CD17C2A22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584" y="0"/>
            <a:ext cx="539646" cy="539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338D4-85EB-A416-3188-58480CB2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333" y="5276197"/>
            <a:ext cx="1599779" cy="69388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323CC05-777A-C55B-8D0D-7B9A7EF8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512" y="3107314"/>
            <a:ext cx="1067254" cy="1067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CC424D2-2345-CAF6-45F6-10C5E120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879" y="2564689"/>
            <a:ext cx="24955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65C37E9-34ED-9A5B-B147-B577588FF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197" y="1866994"/>
            <a:ext cx="2968052" cy="59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o (programming language) - Wikipedia">
            <a:extLst>
              <a:ext uri="{FF2B5EF4-FFF2-40B4-BE49-F238E27FC236}">
                <a16:creationId xmlns:a16="http://schemas.microsoft.com/office/drawing/2014/main" id="{8457FE14-37CC-3F9F-0FBF-BB493948D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868" y="4326237"/>
            <a:ext cx="1319507" cy="48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undefined">
            <a:extLst>
              <a:ext uri="{FF2B5EF4-FFF2-40B4-BE49-F238E27FC236}">
                <a16:creationId xmlns:a16="http://schemas.microsoft.com/office/drawing/2014/main" id="{5189F73A-5C00-FB66-1F7D-0ED34E47B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282" y="3383798"/>
            <a:ext cx="1953718" cy="74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nferno Logo PNG Transparent &amp; SVG Vector - Freebie Supply">
            <a:extLst>
              <a:ext uri="{FF2B5EF4-FFF2-40B4-BE49-F238E27FC236}">
                <a16:creationId xmlns:a16="http://schemas.microsoft.com/office/drawing/2014/main" id="{137AF8E5-6D1A-709A-BBA3-B10F5B600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014" y="4273174"/>
            <a:ext cx="1953718" cy="570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Windows Logo, symbol, meaning, history, PNG, brand">
            <a:extLst>
              <a:ext uri="{FF2B5EF4-FFF2-40B4-BE49-F238E27FC236}">
                <a16:creationId xmlns:a16="http://schemas.microsoft.com/office/drawing/2014/main" id="{BCFD8A6D-4FFA-80F4-1EEC-F3480B2B4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1480" y="2445568"/>
            <a:ext cx="1001138" cy="563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AB0EBA-AA8E-46C6-C90B-9D02B61D7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230" y="0"/>
            <a:ext cx="539646" cy="53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Lucida Console</vt:lpstr>
      <vt:lpstr>Office Theme</vt:lpstr>
      <vt:lpstr>Plan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2025-11-16T03:56:38Z</dcterms:created>
  <dcterms:modified xsi:type="dcterms:W3CDTF">2025-11-16T03:57:48Z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