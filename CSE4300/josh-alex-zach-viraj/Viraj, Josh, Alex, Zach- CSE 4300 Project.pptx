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26"/>
  </p:notesMasterIdLst>
  <p:sldIdLst>
    <p:sldId id="256" r:id="rId2"/>
    <p:sldId id="257" r:id="rId3"/>
    <p:sldId id="260" r:id="rId4"/>
    <p:sldId id="263" r:id="rId5"/>
    <p:sldId id="258" r:id="rId6"/>
    <p:sldId id="261" r:id="rId7"/>
    <p:sldId id="262" r:id="rId8"/>
    <p:sldId id="266" r:id="rId9"/>
    <p:sldId id="264" r:id="rId10"/>
    <p:sldId id="265" r:id="rId11"/>
    <p:sldId id="279" r:id="rId12"/>
    <p:sldId id="267" r:id="rId13"/>
    <p:sldId id="275" r:id="rId14"/>
    <p:sldId id="276" r:id="rId15"/>
    <p:sldId id="277" r:id="rId16"/>
    <p:sldId id="278" r:id="rId17"/>
    <p:sldId id="280" r:id="rId18"/>
    <p:sldId id="268" r:id="rId19"/>
    <p:sldId id="269" r:id="rId20"/>
    <p:sldId id="270" r:id="rId21"/>
    <p:sldId id="273" r:id="rId22"/>
    <p:sldId id="272" r:id="rId23"/>
    <p:sldId id="271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B28E9-FB45-486B-C6A1-C3D181D62EB7}" v="858" dt="2025-11-15T23:31:16.972"/>
    <p1510:client id="{0FA87E64-5945-8849-7CEB-6F4197D534D1}" v="498" dt="2025-11-16T01:13:10.843"/>
    <p1510:client id="{B1A4C885-6FE1-46FB-8253-5B7BA37EFF4C}" v="4857" dt="2025-11-15T23:34:48.947"/>
    <p1510:client id="{D79FF2AD-8164-4F9E-1123-8CFD3876A1B1}" v="662" dt="2025-11-15T23:10:03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D8734-2058-4B7D-89C4-F0A010A7C300}" type="datetimeFigureOut"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4B99B-224B-43B0-BE24-1C64BDFBEC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6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Job is created, then admitted into the ready queue when its arrival time 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4B99B-224B-43B0-BE24-1C64BDFBEC0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65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4CB8-CD3F-F604-7F24-FE08DD8C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C94B5-375E-AB91-FAE2-2F6B00F27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F25CA-F6EA-2702-EA43-6AEF133FF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3A07B-0F3F-490C-91C4-6E52B5862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4B99B-224B-43B0-BE24-1C64BDFBEC0F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94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1AD1-A345-54E0-8A8A-80630AF8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CAD07-5AB3-485B-954F-2D103C3F7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7557E-2AA0-C1BF-C987-62CFB0BE6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6D67D-B207-E826-9FB1-791AAD1A6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4B99B-224B-43B0-BE24-1C64BDFBEC0F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29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9BFE3-C606-1477-0A4E-8034BCDFB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1F3BF-814A-613D-DC30-701393A68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180CB-FF40-CA71-3954-B639D553C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810B2-B965-D857-ED3A-CB27C0403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4B99B-224B-43B0-BE24-1C64BDFBEC0F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65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95695-B7DD-C312-04A3-1748829F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5937A-45E0-F9F9-6FC0-24E9DC69E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6D4AA-98A6-D749-7129-73F2D6EEB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173BC-EED9-287C-7166-CAC42DCC1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4B99B-224B-43B0-BE24-1C64BDFBEC0F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00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02B44-FCA3-7088-E00F-A8F011D1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2CFB-22ED-1D89-A9D6-6F47A3034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8C469-67A6-AADD-4658-A07F65FAC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41446-5C86-6B37-92C5-26B7677B4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4B99B-224B-43B0-BE24-1C64BDFBEC0F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90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1EDF-42AA-EBE8-86E5-D4903852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13A91-6BF9-E40D-1FC6-D68883E76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F3B0A-6D8E-3D22-D8BC-E86BAF7E2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4D9B2-F817-AA96-35AC-84CF69A99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4B99B-224B-43B0-BE24-1C64BDFBEC0F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0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6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92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1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3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0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3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2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4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7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1" r:id="rId6"/>
    <p:sldLayoutId id="2147483747" r:id="rId7"/>
    <p:sldLayoutId id="2147483748" r:id="rId8"/>
    <p:sldLayoutId id="2147483749" r:id="rId9"/>
    <p:sldLayoutId id="2147483750" r:id="rId10"/>
    <p:sldLayoutId id="214748375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Close-up of circuit board">
            <a:extLst>
              <a:ext uri="{FF2B5EF4-FFF2-40B4-BE49-F238E27FC236}">
                <a16:creationId xmlns:a16="http://schemas.microsoft.com/office/drawing/2014/main" id="{06D997E6-61BC-535E-2293-239329B448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641" b="5090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 fontScale="90000"/>
          </a:bodyPr>
          <a:lstStyle/>
          <a:p>
            <a:r>
              <a:rPr lang="en-US" sz="6000">
                <a:solidFill>
                  <a:srgbClr val="FFFFFF"/>
                </a:solidFill>
              </a:rPr>
              <a:t>CPU Scheduler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Viraj Sheth, Josh Ginnett, Alex Xhemo, Zach Santiana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B309-1A72-B63C-ACAC-E7FC58B3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Diagram</a:t>
            </a:r>
          </a:p>
        </p:txBody>
      </p:sp>
      <p:pic>
        <p:nvPicPr>
          <p:cNvPr id="6" name="Picture 5" descr="A diagram of a running process&#10;&#10;AI-generated content may be incorrect.">
            <a:extLst>
              <a:ext uri="{FF2B5EF4-FFF2-40B4-BE49-F238E27FC236}">
                <a16:creationId xmlns:a16="http://schemas.microsoft.com/office/drawing/2014/main" id="{B3C13EC1-2F44-CF76-F93F-4E9D6547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" t="3853" b="4125"/>
          <a:stretch>
            <a:fillRect/>
          </a:stretch>
        </p:blipFill>
        <p:spPr>
          <a:xfrm>
            <a:off x="520607" y="2208959"/>
            <a:ext cx="4300807" cy="2250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854C77-CCE5-885C-9270-390DE1BBB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559" y="1776188"/>
            <a:ext cx="6617681" cy="46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5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E9D51-C245-E3EB-4E3D-F3771CF8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Defining the Structure for Jobs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535380-0347-046A-B65B-0771A60B3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Enumerations for state type</a:t>
            </a:r>
          </a:p>
          <a:p>
            <a:r>
              <a:rPr lang="en-US"/>
              <a:t>Similar to a PCB: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tid</a:t>
            </a:r>
            <a:r>
              <a:rPr lang="en-US"/>
              <a:t>: keep track of process ID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Arrival/burst time for scheduler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RR also defines time slice with </a:t>
            </a:r>
            <a:r>
              <a:rPr lang="en-US" err="1"/>
              <a:t>quanta_rem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Priority scheduler also defines priority of job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state: job state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Start/finish/wait times for 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819B1-F390-437D-3CC0-11EFCE828E42}"/>
              </a:ext>
            </a:extLst>
          </p:cNvPr>
          <p:cNvSpPr txBox="1"/>
          <p:nvPr/>
        </p:nvSpPr>
        <p:spPr>
          <a:xfrm>
            <a:off x="524755" y="6110785"/>
            <a:ext cx="1645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A021D-DC9E-CA4E-2C88-2ECE4F6A7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" y="2355886"/>
            <a:ext cx="5962821" cy="381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9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58B79-22E9-212E-E50C-5EC8B9CC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B59451F-E4F5-38DC-9B79-BC4F5408D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DB853-2612-006C-F0BF-CE4096786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Queue Structures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83D18F-6F59-1B1A-B853-A5496B1C2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85E74D-F74E-5EDA-1CA8-7957C2E33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364057-6523-7B1B-011E-04D2A238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Keep track of proper job order with 3 running queues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Ready, Waiting, Finished</a:t>
            </a:r>
          </a:p>
          <a:p>
            <a:r>
              <a:rPr lang="en-US"/>
              <a:t>Generic queue implementation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Scheduler will interact with queues to order processes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Initialize in </a:t>
            </a:r>
            <a:r>
              <a:rPr lang="en-US" err="1"/>
              <a:t>sim.c</a:t>
            </a:r>
            <a:endParaRPr lang="en-US"/>
          </a:p>
          <a:p>
            <a:r>
              <a:rPr lang="en-US"/>
              <a:t>Chosen algorithm will run on processor simulation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Processes flow through queues with help from </a:t>
            </a:r>
            <a:r>
              <a:rPr lang="en-US" err="1"/>
              <a:t>cpu.c</a:t>
            </a:r>
            <a:r>
              <a:rPr lang="en-US"/>
              <a:t> and </a:t>
            </a:r>
            <a:r>
              <a:rPr lang="en-US" err="1"/>
              <a:t>dispatch.c</a:t>
            </a:r>
            <a:endParaRPr lang="en-US"/>
          </a:p>
          <a:p>
            <a:endParaRPr lang="en-US"/>
          </a:p>
          <a:p>
            <a:endParaRPr lang="en-US"/>
          </a:p>
          <a:p>
            <a:pPr lv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61C74-760C-8D9D-5F2E-5D0B67CAD673}"/>
              </a:ext>
            </a:extLst>
          </p:cNvPr>
          <p:cNvSpPr txBox="1"/>
          <p:nvPr/>
        </p:nvSpPr>
        <p:spPr>
          <a:xfrm>
            <a:off x="4679311" y="5733098"/>
            <a:ext cx="12525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</a:t>
            </a:r>
            <a:r>
              <a:rPr lang="en-US" i="1"/>
              <a:t> </a:t>
            </a:r>
            <a:r>
              <a:rPr lang="en-US" i="1" err="1"/>
              <a:t>util.c</a:t>
            </a:r>
            <a:endParaRPr lang="en-US" i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39B11D-7C5A-B026-4954-AA9A9B75C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2" r="160"/>
          <a:stretch>
            <a:fillRect/>
          </a:stretch>
        </p:blipFill>
        <p:spPr>
          <a:xfrm>
            <a:off x="4689935" y="1717464"/>
            <a:ext cx="2483056" cy="39361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17DD11-9566-4A3F-B782-944300923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991"/>
          <a:stretch>
            <a:fillRect/>
          </a:stretch>
        </p:blipFill>
        <p:spPr>
          <a:xfrm>
            <a:off x="518774" y="1711351"/>
            <a:ext cx="4075613" cy="1226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0F31AE-BB16-DDE9-9340-CEE41C6EF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38" y="3097568"/>
            <a:ext cx="4076149" cy="1335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F7782-A3D5-B195-7886-59351AE898C0}"/>
              </a:ext>
            </a:extLst>
          </p:cNvPr>
          <p:cNvSpPr txBox="1"/>
          <p:nvPr/>
        </p:nvSpPr>
        <p:spPr>
          <a:xfrm>
            <a:off x="516834" y="4512365"/>
            <a:ext cx="40551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sim.h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269334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3753E-5B1C-97AF-7D9F-1C158976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Create a Process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D646702-1788-B97D-918B-46834CD1E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6B4FCA5-23FA-C759-8E23-68410B35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3E2E16-55C0-C964-7F56-5980488E9133}"/>
              </a:ext>
            </a:extLst>
          </p:cNvPr>
          <p:cNvGrpSpPr/>
          <p:nvPr/>
        </p:nvGrpSpPr>
        <p:grpSpPr>
          <a:xfrm>
            <a:off x="7047688" y="1058399"/>
            <a:ext cx="4611882" cy="2602248"/>
            <a:chOff x="2751914" y="1691003"/>
            <a:chExt cx="7105110" cy="3553768"/>
          </a:xfrm>
        </p:grpSpPr>
        <p:pic>
          <p:nvPicPr>
            <p:cNvPr id="4" name="Picture 3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CA24DEE9-303E-FDAE-3881-1EA952EB6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" t="1859" r="-8067" b="-302"/>
            <a:stretch>
              <a:fillRect/>
            </a:stretch>
          </p:blipFill>
          <p:spPr>
            <a:xfrm>
              <a:off x="2868386" y="1691003"/>
              <a:ext cx="6988638" cy="35537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6DBE4AC-1DC9-9635-8365-565DF0E7A14E}"/>
                </a:ext>
              </a:extLst>
            </p:cNvPr>
            <p:cNvSpPr/>
            <p:nvPr/>
          </p:nvSpPr>
          <p:spPr>
            <a:xfrm>
              <a:off x="2751914" y="2947572"/>
              <a:ext cx="1507844" cy="1215558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355626E-25F9-CFE0-3966-0C6EA09D77E8}"/>
              </a:ext>
            </a:extLst>
          </p:cNvPr>
          <p:cNvSpPr txBox="1"/>
          <p:nvPr/>
        </p:nvSpPr>
        <p:spPr>
          <a:xfrm>
            <a:off x="6312501" y="3795326"/>
            <a:ext cx="529519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/>
              <a:t>workload_add</a:t>
            </a:r>
            <a:r>
              <a:rPr lang="en-US"/>
              <a:t>() → add job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make_thread</a:t>
            </a:r>
            <a:r>
              <a:rPr lang="en-US"/>
              <a:t>() creates a new structure of type Thread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All new Threads pushed into workload queue</a:t>
            </a:r>
            <a:endParaRPr lang="en-US" b="1"/>
          </a:p>
          <a:p>
            <a:pPr marL="742950" lvl="1" indent="-285750">
              <a:buFont typeface="Courier New"/>
              <a:buChar char="o"/>
            </a:pPr>
            <a:r>
              <a:rPr lang="en-US"/>
              <a:t>NEW state → not READY yet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D51A6B-9E14-5759-F4D3-AEDD6C631574}"/>
              </a:ext>
            </a:extLst>
          </p:cNvPr>
          <p:cNvSpPr txBox="1"/>
          <p:nvPr/>
        </p:nvSpPr>
        <p:spPr>
          <a:xfrm>
            <a:off x="663300" y="5853486"/>
            <a:ext cx="1645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sim.c</a:t>
            </a:r>
            <a:endParaRPr lang="en-US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F07A3-92CC-61A1-C461-45D98493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42" y="1782050"/>
            <a:ext cx="5135632" cy="406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9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E896B-5307-1A67-50EE-B08B6BE7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F0F7E28-8410-2950-F202-6A47FBBBE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FBB8F51-6459-E528-413F-C4F9238D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0F31B-307C-3DB7-0E79-8C548E60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Move Jobs to READY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2DFFEB2-5BF1-72F7-8455-6EB7523E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8196414-A6EA-65ED-08A6-930BA57E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D8B452F-CDA4-F416-31AF-BDE1435F8837}"/>
              </a:ext>
            </a:extLst>
          </p:cNvPr>
          <p:cNvGrpSpPr/>
          <p:nvPr/>
        </p:nvGrpSpPr>
        <p:grpSpPr>
          <a:xfrm>
            <a:off x="7123289" y="1058399"/>
            <a:ext cx="4536281" cy="2602248"/>
            <a:chOff x="2868386" y="1691003"/>
            <a:chExt cx="6988638" cy="3553768"/>
          </a:xfrm>
        </p:grpSpPr>
        <p:pic>
          <p:nvPicPr>
            <p:cNvPr id="4" name="Picture 3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F125B59D-4671-60E4-FF5F-6824DC94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" t="1859" r="-8067" b="-302"/>
            <a:stretch>
              <a:fillRect/>
            </a:stretch>
          </p:blipFill>
          <p:spPr>
            <a:xfrm>
              <a:off x="2868386" y="1691003"/>
              <a:ext cx="6988638" cy="35537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3C644BF-BBAF-C4B5-F0A5-7EEBC99649A6}"/>
                </a:ext>
              </a:extLst>
            </p:cNvPr>
            <p:cNvSpPr/>
            <p:nvPr/>
          </p:nvSpPr>
          <p:spPr>
            <a:xfrm>
              <a:off x="3864875" y="3204350"/>
              <a:ext cx="1548015" cy="1086169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9729EC4-55E1-949F-C9E9-04FE380345C7}"/>
              </a:ext>
            </a:extLst>
          </p:cNvPr>
          <p:cNvSpPr txBox="1"/>
          <p:nvPr/>
        </p:nvSpPr>
        <p:spPr>
          <a:xfrm>
            <a:off x="6312501" y="3795326"/>
            <a:ext cx="529519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At each tick </a:t>
            </a:r>
            <a:r>
              <a:rPr lang="en-US" i="1">
                <a:ea typeface="+mn-lt"/>
                <a:cs typeface="+mn-lt"/>
              </a:rPr>
              <a:t>now</a:t>
            </a:r>
            <a:r>
              <a:rPr lang="en-US">
                <a:ea typeface="+mn-lt"/>
                <a:cs typeface="+mn-lt"/>
              </a:rPr>
              <a:t>, check the workload queue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Threads whose </a:t>
            </a:r>
            <a:r>
              <a:rPr lang="en-US" i="1" err="1">
                <a:ea typeface="+mn-lt"/>
                <a:cs typeface="+mn-lt"/>
              </a:rPr>
              <a:t>arrival_time</a:t>
            </a:r>
            <a:r>
              <a:rPr lang="en-US" i="1">
                <a:ea typeface="+mn-lt"/>
                <a:cs typeface="+mn-lt"/>
              </a:rPr>
              <a:t> == now</a:t>
            </a:r>
            <a:r>
              <a:rPr lang="en-US">
                <a:ea typeface="+mn-lt"/>
                <a:cs typeface="+mn-lt"/>
              </a:rPr>
              <a:t> move from NEW → READY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Simulates thread spawning for scheduler to handle.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Others stay in the workload queue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Use queue </a:t>
            </a:r>
            <a:r>
              <a:rPr lang="en-US" i="1">
                <a:ea typeface="+mn-lt"/>
                <a:cs typeface="+mn-lt"/>
              </a:rPr>
              <a:t>keep</a:t>
            </a:r>
            <a:r>
              <a:rPr lang="en-US">
                <a:ea typeface="+mn-lt"/>
                <a:cs typeface="+mn-lt"/>
              </a:rPr>
              <a:t> to preserve order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384D3-5DEC-F04A-9EE0-38CB64F643E1}"/>
              </a:ext>
            </a:extLst>
          </p:cNvPr>
          <p:cNvSpPr txBox="1"/>
          <p:nvPr/>
        </p:nvSpPr>
        <p:spPr>
          <a:xfrm>
            <a:off x="514858" y="5853486"/>
            <a:ext cx="1645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sim.c</a:t>
            </a:r>
            <a:endParaRPr lang="en-US" i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FA351B-C7CC-E069-E7EE-DC0DFCFDD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960940"/>
            <a:ext cx="5295197" cy="395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1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8B87A-DF18-23F8-E199-F73B39D4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CF4160-CDED-ADDE-4FA9-71BA9CEEB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43AD6-8D45-48EA-2E02-96D856B1B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CPU Structure with Multiple Cores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EAFBF-18C6-66ED-1FCB-3261C71B9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82A171-9BD1-A3EF-88EC-802469F57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C68FDB-1FE8-C07F-560B-617D02991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3850" y="1122976"/>
            <a:ext cx="4160520" cy="5376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/>
              <a:t>Schedulers can bind threads to cores with </a:t>
            </a:r>
            <a:r>
              <a:rPr lang="en-US" err="1"/>
              <a:t>cpu_bind</a:t>
            </a:r>
            <a:r>
              <a:rPr lang="en-US"/>
              <a:t>().</a:t>
            </a:r>
          </a:p>
          <a:p>
            <a:pPr marL="285750" indent="-285750"/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Steps through process as jobs are scheduled and consumes process runtime to simulate execution</a:t>
            </a:r>
          </a:p>
          <a:p>
            <a:r>
              <a:rPr lang="en-US" err="1"/>
              <a:t>cpu_step</a:t>
            </a:r>
            <a:r>
              <a:rPr lang="en-US"/>
              <a:t>() called once per clock tick.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ECD885-7FC2-F4B7-969D-5AE270CC8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3" y="4246096"/>
            <a:ext cx="5679753" cy="18588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70E578-A55A-AA50-0D07-4FBCE36639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" t="13636" r="55"/>
          <a:stretch>
            <a:fillRect/>
          </a:stretch>
        </p:blipFill>
        <p:spPr>
          <a:xfrm>
            <a:off x="525681" y="2302182"/>
            <a:ext cx="5480416" cy="15104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97D372-1823-C32E-DC55-AB5960D289BB}"/>
              </a:ext>
            </a:extLst>
          </p:cNvPr>
          <p:cNvSpPr txBox="1"/>
          <p:nvPr/>
        </p:nvSpPr>
        <p:spPr>
          <a:xfrm>
            <a:off x="519055" y="3812636"/>
            <a:ext cx="54784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sim.h</a:t>
            </a:r>
            <a:r>
              <a:rPr lang="en-US" i="1"/>
              <a:t>: </a:t>
            </a:r>
            <a:r>
              <a:rPr lang="en-US"/>
              <a:t>CPU structure passed to simulator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7FD39A-BBB1-9D32-20C2-56E7A6168F06}"/>
              </a:ext>
            </a:extLst>
          </p:cNvPr>
          <p:cNvSpPr txBox="1"/>
          <p:nvPr/>
        </p:nvSpPr>
        <p:spPr>
          <a:xfrm>
            <a:off x="512428" y="6166343"/>
            <a:ext cx="648861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cpu.c</a:t>
            </a:r>
            <a:r>
              <a:rPr lang="en-US" i="1"/>
              <a:t> </a:t>
            </a:r>
            <a:r>
              <a:rPr lang="en-US"/>
              <a:t>Initialize CPU with n cores, allocate thread space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E188DF0-8905-9984-7AC4-CC2082452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673" y="1907279"/>
            <a:ext cx="4665594" cy="28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8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6E940-EC99-9EB4-9A43-DAA0F458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85E095B-E1C3-7475-5D3B-347AD5DE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52EAD85-5E38-B191-BFC4-BC3DFFB11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48D06-48F8-EF1E-8CFF-00EE898EF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RUNNING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7FB75797-3D35-D544-A304-83658CB74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64538E4-7C8B-4545-8795-4E673197E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3817F9-F284-18B0-C7B4-48849561E600}"/>
              </a:ext>
            </a:extLst>
          </p:cNvPr>
          <p:cNvGrpSpPr/>
          <p:nvPr/>
        </p:nvGrpSpPr>
        <p:grpSpPr>
          <a:xfrm>
            <a:off x="6311808" y="1058399"/>
            <a:ext cx="4536281" cy="2602248"/>
            <a:chOff x="2868386" y="1691003"/>
            <a:chExt cx="6988638" cy="3553768"/>
          </a:xfrm>
        </p:grpSpPr>
        <p:pic>
          <p:nvPicPr>
            <p:cNvPr id="4" name="Picture 3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8873E44F-B9A3-D9F8-3079-42F67082B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" t="1859" r="-8067" b="-302"/>
            <a:stretch>
              <a:fillRect/>
            </a:stretch>
          </p:blipFill>
          <p:spPr>
            <a:xfrm>
              <a:off x="2868386" y="1691003"/>
              <a:ext cx="6988638" cy="35537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AA9B2D8-7401-DCDB-EF26-459CFD2CA39A}"/>
                </a:ext>
              </a:extLst>
            </p:cNvPr>
            <p:cNvSpPr/>
            <p:nvPr/>
          </p:nvSpPr>
          <p:spPr>
            <a:xfrm>
              <a:off x="5470140" y="2019888"/>
              <a:ext cx="1662845" cy="1057771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75A48F1-6CE9-B098-628D-E3C715989844}"/>
              </a:ext>
            </a:extLst>
          </p:cNvPr>
          <p:cNvSpPr txBox="1"/>
          <p:nvPr/>
        </p:nvSpPr>
        <p:spPr>
          <a:xfrm>
            <a:off x="6312501" y="3666677"/>
            <a:ext cx="529519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Simulate a tick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For each tick: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Decrement remaining burst time for thread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For RR only: decrement remaining time quantum.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Record</a:t>
            </a:r>
            <a:r>
              <a:rPr lang="en-US">
                <a:ea typeface="+mn-lt"/>
                <a:cs typeface="+mn-lt"/>
              </a:rPr>
              <a:t> which </a:t>
            </a:r>
            <a:r>
              <a:rPr lang="en-US" i="1" err="1">
                <a:ea typeface="+mn-lt"/>
                <a:cs typeface="+mn-lt"/>
              </a:rPr>
              <a:t>tid</a:t>
            </a:r>
            <a:r>
              <a:rPr lang="en-US">
                <a:ea typeface="+mn-lt"/>
                <a:cs typeface="+mn-lt"/>
              </a:rPr>
              <a:t> is running per core in </a:t>
            </a:r>
            <a:r>
              <a:rPr lang="en-US" i="1" err="1">
                <a:ea typeface="+mn-lt"/>
                <a:cs typeface="+mn-lt"/>
              </a:rPr>
              <a:t>run_trace</a:t>
            </a:r>
            <a:r>
              <a:rPr lang="en-US" i="1">
                <a:ea typeface="+mn-lt"/>
                <a:cs typeface="+mn-lt"/>
              </a:rPr>
              <a:t> (logging purposes)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Increment global SIM_TIME (clock cycle)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C5BB0B1E-0BF3-BD8B-BDEE-29EE30C81494}"/>
              </a:ext>
            </a:extLst>
          </p:cNvPr>
          <p:cNvSpPr txBox="1"/>
          <p:nvPr/>
        </p:nvSpPr>
        <p:spPr>
          <a:xfrm>
            <a:off x="620875" y="5369695"/>
            <a:ext cx="164589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From </a:t>
            </a:r>
            <a:r>
              <a:rPr lang="en-US" i="1" err="1"/>
              <a:t>cpu.c</a:t>
            </a:r>
            <a:endParaRPr lang="en-US" i="1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A424BA3-AC3E-7803-460F-4C204370D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966913"/>
            <a:ext cx="5473976" cy="328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97F7-494F-0064-BCB7-9CE22871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Dispatcher: Scheduling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84136-089F-9D20-374E-0E81962AE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7841" y="2340864"/>
            <a:ext cx="2263044" cy="658368"/>
          </a:xfrm>
        </p:spPr>
        <p:txBody>
          <a:bodyPr/>
          <a:lstStyle/>
          <a:p>
            <a:r>
              <a:rPr lang="en-US"/>
              <a:t>Non-Preemptive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3BF6E-9EEC-F580-C913-64E61225F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779" y="2997226"/>
            <a:ext cx="2947878" cy="3329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FIFO</a:t>
            </a:r>
          </a:p>
          <a:p>
            <a:r>
              <a:rPr lang="en-US"/>
              <a:t>SJF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54D17-CDBA-8528-DD22-9BBEC132A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07241" y="2340864"/>
            <a:ext cx="1578209" cy="658368"/>
          </a:xfrm>
        </p:spPr>
        <p:txBody>
          <a:bodyPr/>
          <a:lstStyle/>
          <a:p>
            <a:r>
              <a:rPr lang="en-US"/>
              <a:t>Preemptive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DF21C-E072-83AC-DE57-7F82545D2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336178" y="2997226"/>
            <a:ext cx="2349854" cy="33390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SRTCF</a:t>
            </a:r>
          </a:p>
          <a:p>
            <a:r>
              <a:rPr lang="en-US"/>
              <a:t>Round Robin (RR)</a:t>
            </a:r>
          </a:p>
          <a:p>
            <a:r>
              <a:rPr lang="en-US"/>
              <a:t>Priority Scheduler</a:t>
            </a:r>
          </a:p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384F7B-FBE4-F6F1-5208-DC5AE49227E9}"/>
              </a:ext>
            </a:extLst>
          </p:cNvPr>
          <p:cNvGrpSpPr/>
          <p:nvPr/>
        </p:nvGrpSpPr>
        <p:grpSpPr>
          <a:xfrm>
            <a:off x="776504" y="2206222"/>
            <a:ext cx="5298280" cy="3171336"/>
            <a:chOff x="1982200" y="3151488"/>
            <a:chExt cx="6988638" cy="3553768"/>
          </a:xfrm>
        </p:grpSpPr>
        <p:pic>
          <p:nvPicPr>
            <p:cNvPr id="12" name="Picture 11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C9614275-066F-A752-3F77-5D688CEBA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" t="1859" r="-8067" b="-302"/>
            <a:stretch>
              <a:fillRect/>
            </a:stretch>
          </p:blipFill>
          <p:spPr>
            <a:xfrm>
              <a:off x="1982200" y="3151488"/>
              <a:ext cx="6988638" cy="3553768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874042-CD04-4A36-3AB2-3A4CB2961781}"/>
                </a:ext>
              </a:extLst>
            </p:cNvPr>
            <p:cNvSpPr/>
            <p:nvPr/>
          </p:nvSpPr>
          <p:spPr>
            <a:xfrm>
              <a:off x="3365050" y="3532000"/>
              <a:ext cx="1325117" cy="888581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A4F6BE6-F4CC-18C7-3026-5C99303FFA51}"/>
              </a:ext>
            </a:extLst>
          </p:cNvPr>
          <p:cNvSpPr txBox="1"/>
          <p:nvPr/>
        </p:nvSpPr>
        <p:spPr>
          <a:xfrm>
            <a:off x="6325956" y="4658591"/>
            <a:ext cx="49492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User can choose scheduling policy</a:t>
            </a:r>
          </a:p>
        </p:txBody>
      </p:sp>
    </p:spTree>
    <p:extLst>
      <p:ext uri="{BB962C8B-B14F-4D97-AF65-F5344CB8AC3E}">
        <p14:creationId xmlns:p14="http://schemas.microsoft.com/office/powerpoint/2010/main" val="294289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C4201-9E43-26DF-C11C-E82120D1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C137403-79A3-1295-0CE5-C54FA641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D5FF44F-7673-81F6-68A3-15997484A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33095-B46F-ADE7-4BEF-F7C5D26F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READY to RUNNING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1FEBF63-6760-F902-2FB7-14E22EA7B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39412A9-B1AD-927D-3ECB-3F1B2974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815B4A-6795-AAC4-3796-EA21E6F8D4B7}"/>
              </a:ext>
            </a:extLst>
          </p:cNvPr>
          <p:cNvGrpSpPr/>
          <p:nvPr/>
        </p:nvGrpSpPr>
        <p:grpSpPr>
          <a:xfrm>
            <a:off x="7123289" y="1058399"/>
            <a:ext cx="4536281" cy="2602248"/>
            <a:chOff x="2868386" y="1691003"/>
            <a:chExt cx="6988638" cy="3553768"/>
          </a:xfrm>
        </p:grpSpPr>
        <p:pic>
          <p:nvPicPr>
            <p:cNvPr id="4" name="Picture 3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66316199-83EA-E852-953F-88B2A6DA3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" t="1859" r="-8067" b="-302"/>
            <a:stretch>
              <a:fillRect/>
            </a:stretch>
          </p:blipFill>
          <p:spPr>
            <a:xfrm>
              <a:off x="2868386" y="1691003"/>
              <a:ext cx="6988638" cy="35537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0EE1A39-D701-79C7-4948-01867D07BBD5}"/>
                </a:ext>
              </a:extLst>
            </p:cNvPr>
            <p:cNvSpPr/>
            <p:nvPr/>
          </p:nvSpPr>
          <p:spPr>
            <a:xfrm rot="19620000">
              <a:off x="3549140" y="1790138"/>
              <a:ext cx="3583845" cy="2179485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8E7425F-4E19-3530-D31E-2DAA49E8F426}"/>
              </a:ext>
            </a:extLst>
          </p:cNvPr>
          <p:cNvSpPr txBox="1"/>
          <p:nvPr/>
        </p:nvSpPr>
        <p:spPr>
          <a:xfrm>
            <a:off x="6312501" y="3841709"/>
            <a:ext cx="529519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Dispatcher pops from READY, binds thread to an idle core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Bierstadt"/>
              </a:rPr>
              <a:t>Set to running state</a:t>
            </a:r>
          </a:p>
          <a:p>
            <a:pPr marL="285750" indent="-285750">
              <a:buFont typeface="Arial"/>
              <a:buChar char="•"/>
            </a:pPr>
            <a:r>
              <a:rPr lang="en-US" i="1" err="1">
                <a:latin typeface="Bierstadt"/>
              </a:rPr>
              <a:t>start_time</a:t>
            </a:r>
            <a:r>
              <a:rPr lang="en-US">
                <a:ea typeface="+mn-lt"/>
                <a:cs typeface="+mn-lt"/>
              </a:rPr>
              <a:t> set the first time the thread runs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For calculating response time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8AE2F-2DAC-2E2E-1A09-68CBC58CB813}"/>
              </a:ext>
            </a:extLst>
          </p:cNvPr>
          <p:cNvSpPr txBox="1"/>
          <p:nvPr/>
        </p:nvSpPr>
        <p:spPr>
          <a:xfrm>
            <a:off x="524754" y="5576395"/>
            <a:ext cx="1645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cpu.c</a:t>
            </a:r>
            <a:endParaRPr lang="en-US" i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460634-D483-A423-1063-AAD724347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94" y="3842906"/>
            <a:ext cx="4748229" cy="15118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643CB1-5E83-0070-053C-BC1C4EE0E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384627"/>
            <a:ext cx="6419809" cy="140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1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B3F0-7BAF-90C2-5A8B-14ECD0C7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READY to RUNNING Continued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76277-FDBF-32D8-C3E0-625B0271773B}"/>
              </a:ext>
            </a:extLst>
          </p:cNvPr>
          <p:cNvSpPr txBox="1"/>
          <p:nvPr/>
        </p:nvSpPr>
        <p:spPr>
          <a:xfrm>
            <a:off x="526042" y="2064717"/>
            <a:ext cx="44713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Insert screenshot of "scheduled with selected priority block" in main simulation loop of </a:t>
            </a:r>
            <a:r>
              <a:rPr lang="en-US" err="1"/>
              <a:t>sim.c</a:t>
            </a:r>
            <a:r>
              <a:rPr lang="en-US"/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5915E-CF27-DD69-B97B-19951607AB57}"/>
              </a:ext>
            </a:extLst>
          </p:cNvPr>
          <p:cNvSpPr txBox="1"/>
          <p:nvPr/>
        </p:nvSpPr>
        <p:spPr>
          <a:xfrm>
            <a:off x="7759131" y="2367193"/>
            <a:ext cx="34718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In main simulation loop, threads are dispatched according to the selected dispatch policy.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55E9B4-AABB-B15C-2B5F-5BD82486D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44" y="2112285"/>
            <a:ext cx="7036865" cy="23184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D7B3C0-8002-B5C3-FDEF-CCFB6A05B301}"/>
              </a:ext>
            </a:extLst>
          </p:cNvPr>
          <p:cNvSpPr txBox="1"/>
          <p:nvPr/>
        </p:nvSpPr>
        <p:spPr>
          <a:xfrm>
            <a:off x="790161" y="4850296"/>
            <a:ext cx="129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59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4038-EB2C-9F3A-732A-D636B536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 Handler: FIFO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D15E1-E5DF-FC10-A9CE-5CE624BDB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In First Out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Pass ready queue and CPU cores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While cores available for scheduling: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Pop from ready queue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If t returns NULL, empty queue, break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Else, bind to CPU core to process job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In order scheduling as jobs arrive to queue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9595C8-7839-0B08-53EA-0926C56F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044" y="2579600"/>
            <a:ext cx="5953956" cy="23625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D14282-F3F6-E3F7-9859-EBE1DB0AE2FE}"/>
              </a:ext>
            </a:extLst>
          </p:cNvPr>
          <p:cNvSpPr txBox="1"/>
          <p:nvPr/>
        </p:nvSpPr>
        <p:spPr>
          <a:xfrm>
            <a:off x="9795013" y="4994413"/>
            <a:ext cx="180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dispatch.c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82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6BE9-B20A-675E-FECA-5D1932CF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0C7F-C326-E84C-671E-E2FA3521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 Handler: SJF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0CF4E-18EA-81E5-A724-89FB1A8B0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Shortest Job First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Pass ready queue and CPU struct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While cores available: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Pop shortest length job with </a:t>
            </a:r>
            <a:r>
              <a:rPr lang="en-US" err="1"/>
              <a:t>q_min_burst</a:t>
            </a:r>
            <a:endParaRPr lang="en-US"/>
          </a:p>
          <a:p>
            <a:pPr lvl="3">
              <a:buFont typeface="Wingdings" panose="05000000000000000000" pitchFamily="2" charset="2"/>
              <a:buChar char="q"/>
            </a:pPr>
            <a:r>
              <a:rPr lang="en-US"/>
              <a:t>Returns shortest burst time (O(n))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/>
              <a:t>Uses </a:t>
            </a:r>
            <a:r>
              <a:rPr lang="en-US" i="1" err="1"/>
              <a:t>q_remove_after</a:t>
            </a:r>
            <a:r>
              <a:rPr lang="en-US" i="1"/>
              <a:t>()</a:t>
            </a:r>
            <a:r>
              <a:rPr lang="en-US"/>
              <a:t> to remove from middle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If </a:t>
            </a:r>
            <a:r>
              <a:rPr lang="en-US" i="1"/>
              <a:t>t</a:t>
            </a:r>
            <a:r>
              <a:rPr lang="en-US"/>
              <a:t> returns NULL, empty queue, break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/>
              <a:t>Else, bind to CPU core to process 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E7AC0-1CE3-2D11-2095-DFFE62B6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800" y="1920436"/>
            <a:ext cx="5327365" cy="1510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C8C84-B45F-AC2D-691F-D410B19B7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909" y="3622188"/>
            <a:ext cx="5330256" cy="2732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35B07B-C649-41CB-7623-5F0AFCA65A9C}"/>
              </a:ext>
            </a:extLst>
          </p:cNvPr>
          <p:cNvSpPr txBox="1"/>
          <p:nvPr/>
        </p:nvSpPr>
        <p:spPr>
          <a:xfrm>
            <a:off x="6343186" y="6345936"/>
            <a:ext cx="180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dispatch.c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0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DD0D-55AD-A361-2D77-FD1A15EC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64B91-7C16-31FE-B3D6-04F9AFED9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 Handler: SRTCF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C0A6-BA11-DC1B-6D47-676F62066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08765"/>
            <a:ext cx="1115568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>
                <a:ea typeface="+mn-lt"/>
                <a:cs typeface="+mn-lt"/>
              </a:rPr>
              <a:t>Shortest Run to Completion First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ea typeface="+mn-lt"/>
                <a:cs typeface="+mn-lt"/>
              </a:rPr>
              <a:t>Preemptive version of SJF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ea typeface="+mn-lt"/>
                <a:cs typeface="+mn-lt"/>
              </a:rPr>
              <a:t>First fill idle cores with shortest remaining jobs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>
                <a:ea typeface="+mn-lt"/>
                <a:cs typeface="+mn-lt"/>
              </a:rPr>
              <a:t>Look for "victim" core whose job has more remaining time</a:t>
            </a:r>
            <a:endParaRPr lang="en-US"/>
          </a:p>
          <a:p>
            <a:pPr lvl="2">
              <a:buFont typeface="Wingdings" panose="05000000000000000000" pitchFamily="2" charset="2"/>
              <a:buChar char="§"/>
            </a:pPr>
            <a:r>
              <a:rPr lang="en-US">
                <a:ea typeface="+mn-lt"/>
                <a:cs typeface="+mn-lt"/>
              </a:rPr>
              <a:t>If a shorter job arrives, can preempt longer one</a:t>
            </a:r>
          </a:p>
          <a:p>
            <a:r>
              <a:rPr lang="en-US"/>
              <a:t>Place job back in queue if current jobs are equal/better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FE109-5669-F5A4-A846-AEAB4A917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970" y="2011943"/>
            <a:ext cx="4421480" cy="452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2D1357-5306-6258-8575-BBE149871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69" y="4336774"/>
            <a:ext cx="4944165" cy="22005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8B736-5A7E-FA63-B683-296A1666D92F}"/>
              </a:ext>
            </a:extLst>
          </p:cNvPr>
          <p:cNvSpPr txBox="1"/>
          <p:nvPr/>
        </p:nvSpPr>
        <p:spPr>
          <a:xfrm>
            <a:off x="7305304" y="6488668"/>
            <a:ext cx="180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dispatch.c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7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FA7B-C502-FAA7-4F1B-5BBB0AAA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A3D3-FEB8-415B-D099-796DFABC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 Handler: RR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B543E-1A43-89CF-E6EA-85F3CCB31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Round Robin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Pass ready queue, CPU struct, and quantum int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Quantum int dictates time scheduled on CPU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Set process run time with quantum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1) Iterate over all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Check for jobs with expired quantum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dirty="0"/>
              <a:t>If expired, unbind job from core with </a:t>
            </a:r>
            <a:r>
              <a:rPr lang="en-US" dirty="0" err="1"/>
              <a:t>preempt_to_ready</a:t>
            </a:r>
            <a:r>
              <a:rPr lang="en-US" dirty="0"/>
              <a:t>()</a:t>
            </a:r>
          </a:p>
          <a:p>
            <a:pPr lvl="3">
              <a:buFont typeface="Wingdings" panose="05000000000000000000" pitchFamily="2" charset="2"/>
              <a:buChar char="q"/>
            </a:pPr>
            <a:r>
              <a:rPr lang="en-US" dirty="0"/>
              <a:t>move to ready queue if not NULL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2) Iterate over all CPU cores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Break if no jobs available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Else, reset remaining quantum time and bind to CPU core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86683-F8F0-5289-7522-10CED9BBC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034" y="1938131"/>
            <a:ext cx="5189176" cy="2976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59B575-B10B-FE24-A475-EC8886702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876" y="4961283"/>
            <a:ext cx="5182866" cy="1234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BB9583-4C55-E319-39E9-05AF120B0974}"/>
              </a:ext>
            </a:extLst>
          </p:cNvPr>
          <p:cNvSpPr txBox="1"/>
          <p:nvPr/>
        </p:nvSpPr>
        <p:spPr>
          <a:xfrm>
            <a:off x="9924222" y="6195525"/>
            <a:ext cx="180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dispatch.c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5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EBCD-3E06-3F97-0670-458E0564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15D2-0A44-E71A-6052-FE39C0D8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Dispatch Handler: Priority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5A215-2F91-EC7A-414B-9CFB9D863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While cores idle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Pop highest priority job from ready queue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Bind to core </a:t>
            </a:r>
            <a:r>
              <a:rPr lang="en-US" dirty="0" err="1"/>
              <a:t>til</a:t>
            </a:r>
            <a:r>
              <a:rPr lang="en-US" dirty="0"/>
              <a:t> empty queue</a:t>
            </a:r>
          </a:p>
          <a:p>
            <a:r>
              <a:rPr lang="en-US" dirty="0"/>
              <a:t>If there are other ready threads, check for priority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Find lowest priority victim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Move to ready queue off core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Replace with higher priority job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4927F5-A511-A290-C1AC-6FDDBA12C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972" y="1767411"/>
            <a:ext cx="4859028" cy="3576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E6307-6F7E-7E7C-016C-CD2DEA8DB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051" y="5308936"/>
            <a:ext cx="3306119" cy="15490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B3BC26-5C34-52AE-550D-E101FE968E31}"/>
              </a:ext>
            </a:extLst>
          </p:cNvPr>
          <p:cNvSpPr txBox="1"/>
          <p:nvPr/>
        </p:nvSpPr>
        <p:spPr>
          <a:xfrm>
            <a:off x="10390096" y="1470991"/>
            <a:ext cx="180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dispatch.c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96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2D919-7E0A-C033-BCFD-77E5B7B0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F3E4-1A0F-4663-799F-4FFDAF3B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 Handler: Priority Policy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8FE84-2B2C-FE7F-F596-11C57BB1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8219"/>
            <a:ext cx="1115568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Decay priority for waiting and ready threads each clock cycle.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Process's spawn with random or user defined priority before simulation.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5E727-F220-B9B1-B730-8D719C9102BA}"/>
              </a:ext>
            </a:extLst>
          </p:cNvPr>
          <p:cNvSpPr txBox="1"/>
          <p:nvPr/>
        </p:nvSpPr>
        <p:spPr>
          <a:xfrm>
            <a:off x="524556" y="2758973"/>
            <a:ext cx="327506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/>
              <a:t>Decay in main simulation loop:</a:t>
            </a:r>
            <a:endParaRPr lang="en-US" i="1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4F4375D-609B-36B3-3295-A0C4FD1E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28" y="3128920"/>
            <a:ext cx="5241415" cy="3634673"/>
          </a:xfrm>
          <a:prstGeom prst="rect">
            <a:avLst/>
          </a:prstGeom>
        </p:spPr>
      </p:pic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0B135B67-4414-4483-834D-D6DE526DF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457" y="3938545"/>
            <a:ext cx="6008167" cy="2824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DD72AF-163F-FCF5-BA7C-16F53C767830}"/>
              </a:ext>
            </a:extLst>
          </p:cNvPr>
          <p:cNvSpPr txBox="1"/>
          <p:nvPr/>
        </p:nvSpPr>
        <p:spPr>
          <a:xfrm>
            <a:off x="6101316" y="3568176"/>
            <a:ext cx="246804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/>
              <a:t>Decay handler in </a:t>
            </a:r>
            <a:r>
              <a:rPr lang="en-US" dirty="0" err="1"/>
              <a:t>util.c</a:t>
            </a:r>
            <a:r>
              <a:rPr lang="en-US" dirty="0"/>
              <a:t>: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85567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39016-E888-633A-30F8-8839B56E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CC51BE-B03B-4F52-32E2-371229D92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904E6CA-652F-7F3A-1CEA-AA24B0647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CFE93-D0BC-01A3-2B65-2C6E436B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WAITING (BLOCKED)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9D4996E-0B5D-9D31-ADC0-502AB54E8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5EAE691-4FF8-1648-737A-43AB3DEC8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C00AA3-471A-7BF3-DA4B-A2D22F01286E}"/>
              </a:ext>
            </a:extLst>
          </p:cNvPr>
          <p:cNvGrpSpPr/>
          <p:nvPr/>
        </p:nvGrpSpPr>
        <p:grpSpPr>
          <a:xfrm>
            <a:off x="7123289" y="1058399"/>
            <a:ext cx="4536281" cy="2602248"/>
            <a:chOff x="2868386" y="1691003"/>
            <a:chExt cx="6988638" cy="3553768"/>
          </a:xfrm>
        </p:grpSpPr>
        <p:pic>
          <p:nvPicPr>
            <p:cNvPr id="4" name="Picture 3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D9982F7D-606B-711D-759E-E7A3B50AB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" t="1859" r="-8067" b="-302"/>
            <a:stretch>
              <a:fillRect/>
            </a:stretch>
          </p:blipFill>
          <p:spPr>
            <a:xfrm>
              <a:off x="2868386" y="1691003"/>
              <a:ext cx="6988638" cy="35537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DEDB472-6584-B785-35F0-32ED709CAFAD}"/>
                </a:ext>
              </a:extLst>
            </p:cNvPr>
            <p:cNvSpPr/>
            <p:nvPr/>
          </p:nvSpPr>
          <p:spPr>
            <a:xfrm rot="2460000">
              <a:off x="5221974" y="2422160"/>
              <a:ext cx="3461878" cy="1517268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EDB16B-FBFE-AD3D-49B8-71F00A14A14E}"/>
              </a:ext>
            </a:extLst>
          </p:cNvPr>
          <p:cNvSpPr txBox="1"/>
          <p:nvPr/>
        </p:nvSpPr>
        <p:spPr>
          <a:xfrm>
            <a:off x="6312501" y="3795326"/>
            <a:ext cx="529519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Random IO interrupts simulated in </a:t>
            </a:r>
            <a:r>
              <a:rPr lang="en-US" err="1"/>
              <a:t>sim.c</a:t>
            </a:r>
            <a:endParaRPr lang="en-US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/>
              <a:t>Update every tick to add unique IO blocks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Process gets blocked and moved to waiting queue to allow IO to execute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/>
              <a:t>Removed from CPU and requires rescheduling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Runs uniquely each time according to </a:t>
            </a:r>
            <a:r>
              <a:rPr lang="en-US" err="1"/>
              <a:t>rng</a:t>
            </a:r>
            <a:r>
              <a:rPr lang="en-US"/>
              <a:t> seed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031D2-3DDF-B51F-91F6-6DE41E9BCCDA}"/>
              </a:ext>
            </a:extLst>
          </p:cNvPr>
          <p:cNvSpPr txBox="1"/>
          <p:nvPr/>
        </p:nvSpPr>
        <p:spPr>
          <a:xfrm>
            <a:off x="729902" y="5883330"/>
            <a:ext cx="50734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sim.c</a:t>
            </a:r>
            <a:r>
              <a:rPr lang="en-US" i="1"/>
              <a:t> </a:t>
            </a:r>
            <a:r>
              <a:rPr lang="en-US"/>
              <a:t>(top), </a:t>
            </a:r>
            <a:r>
              <a:rPr lang="en-US" i="1" err="1"/>
              <a:t>cpu.c</a:t>
            </a:r>
            <a:r>
              <a:rPr lang="en-US" i="1"/>
              <a:t> </a:t>
            </a:r>
            <a:r>
              <a:rPr lang="en-US"/>
              <a:t>(bottom)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3824C-6D92-C71B-FBB9-0593082A30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19"/>
          <a:stretch>
            <a:fillRect/>
          </a:stretch>
        </p:blipFill>
        <p:spPr>
          <a:xfrm>
            <a:off x="730080" y="4674168"/>
            <a:ext cx="5073091" cy="1201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F1E53C-D5A0-30C3-C6F0-632A601E7F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" t="3921" r="-51" b="5882"/>
          <a:stretch>
            <a:fillRect/>
          </a:stretch>
        </p:blipFill>
        <p:spPr>
          <a:xfrm>
            <a:off x="729902" y="1867717"/>
            <a:ext cx="5074969" cy="274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72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435D0-10CE-E3DE-0C18-3EAF25DB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D766923-9D8A-1EE4-894C-36CB3728B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E5950A4-7606-2713-7E4E-144D3A06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C2102-121F-48EC-9D65-D755910E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Resolve WAITING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73DE3A0-32C1-6961-F0D2-DC48F949A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7DA3B14-EB65-36EC-7EC8-C10E0688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FECAF8-982E-4DBF-2CA4-8302B899F04F}"/>
              </a:ext>
            </a:extLst>
          </p:cNvPr>
          <p:cNvGrpSpPr/>
          <p:nvPr/>
        </p:nvGrpSpPr>
        <p:grpSpPr>
          <a:xfrm>
            <a:off x="7123289" y="1058399"/>
            <a:ext cx="4536281" cy="2602248"/>
            <a:chOff x="2868386" y="1691003"/>
            <a:chExt cx="6988638" cy="3553768"/>
          </a:xfrm>
        </p:grpSpPr>
        <p:pic>
          <p:nvPicPr>
            <p:cNvPr id="4" name="Picture 3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01075501-50E7-F165-6D64-1FCBE3EDF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" t="1859" r="-8067" b="-302"/>
            <a:stretch>
              <a:fillRect/>
            </a:stretch>
          </p:blipFill>
          <p:spPr>
            <a:xfrm>
              <a:off x="2868386" y="1691003"/>
              <a:ext cx="6988638" cy="35537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803422E-D941-462D-771A-ACADDE9C89E0}"/>
                </a:ext>
              </a:extLst>
            </p:cNvPr>
            <p:cNvSpPr/>
            <p:nvPr/>
          </p:nvSpPr>
          <p:spPr>
            <a:xfrm>
              <a:off x="3973729" y="3014923"/>
              <a:ext cx="4472360" cy="1517268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CA316A6-7960-FB7C-7AF5-80286632D6A6}"/>
              </a:ext>
            </a:extLst>
          </p:cNvPr>
          <p:cNvSpPr txBox="1"/>
          <p:nvPr/>
        </p:nvSpPr>
        <p:spPr>
          <a:xfrm>
            <a:off x="6312501" y="3795326"/>
            <a:ext cx="529519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Called every tick to check for unblock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>
                <a:ea typeface="+mn-lt"/>
                <a:cs typeface="+mn-lt"/>
              </a:rPr>
              <a:t>Resolve before new interrupt call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Move processes from wait queue to ready queue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This structure allows us to accurately simulate interrupts in the system and model real world complexity to our scheduler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BC9C9-288A-6E6E-395E-8C7E68A2CEE7}"/>
              </a:ext>
            </a:extLst>
          </p:cNvPr>
          <p:cNvSpPr txBox="1"/>
          <p:nvPr/>
        </p:nvSpPr>
        <p:spPr>
          <a:xfrm>
            <a:off x="524754" y="5576395"/>
            <a:ext cx="1645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util.c</a:t>
            </a:r>
            <a:r>
              <a:rPr lang="en-US"/>
              <a:t> </a:t>
            </a:r>
            <a:endParaRPr lang="en-US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CF368-2855-7098-DC8E-F36C67696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2" y="2256505"/>
            <a:ext cx="5235308" cy="300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59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D03C8-4590-7C2E-D587-31C2115C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856541D-AE17-F187-239E-7214D0513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9754323-A91D-E471-9A72-6010F5B2E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B2041-14D7-9770-8D5C-8D523779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582" y="1018164"/>
            <a:ext cx="7572405" cy="6978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400"/>
              <a:t>Complete Jobs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B1F19C4-A41F-3E32-B21F-925B1F3D2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4340250-351F-72CB-1D5F-8D7CC7C4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384068-01D8-05FF-468C-7C224A8821CA}"/>
              </a:ext>
            </a:extLst>
          </p:cNvPr>
          <p:cNvGrpSpPr/>
          <p:nvPr/>
        </p:nvGrpSpPr>
        <p:grpSpPr>
          <a:xfrm>
            <a:off x="7123289" y="1017523"/>
            <a:ext cx="4536281" cy="2643124"/>
            <a:chOff x="2868386" y="1635181"/>
            <a:chExt cx="6988638" cy="3609590"/>
          </a:xfrm>
        </p:grpSpPr>
        <p:pic>
          <p:nvPicPr>
            <p:cNvPr id="4" name="Picture 3" descr="A diagram of a running process&#10;&#10;AI-generated content may be incorrect.">
              <a:extLst>
                <a:ext uri="{FF2B5EF4-FFF2-40B4-BE49-F238E27FC236}">
                  <a16:creationId xmlns:a16="http://schemas.microsoft.com/office/drawing/2014/main" id="{4156702B-FB05-7F46-CEB2-49F2B6C03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8" t="1859" r="-8067" b="-302"/>
            <a:stretch>
              <a:fillRect/>
            </a:stretch>
          </p:blipFill>
          <p:spPr>
            <a:xfrm>
              <a:off x="2868386" y="1691003"/>
              <a:ext cx="6988638" cy="355376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E4173F-EA46-B86A-801D-B9F24865D2D1}"/>
                </a:ext>
              </a:extLst>
            </p:cNvPr>
            <p:cNvSpPr/>
            <p:nvPr/>
          </p:nvSpPr>
          <p:spPr>
            <a:xfrm rot="20820000">
              <a:off x="5533711" y="1635181"/>
              <a:ext cx="2956635" cy="1332853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F22BBA2-83E7-5ADC-C010-9C980B870C70}"/>
              </a:ext>
            </a:extLst>
          </p:cNvPr>
          <p:cNvSpPr txBox="1"/>
          <p:nvPr/>
        </p:nvSpPr>
        <p:spPr>
          <a:xfrm>
            <a:off x="6312501" y="3795326"/>
            <a:ext cx="529519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Collect_completions</a:t>
            </a:r>
            <a:r>
              <a:rPr lang="en-US">
                <a:ea typeface="+mn-lt"/>
                <a:cs typeface="+mn-lt"/>
              </a:rPr>
              <a:t> used to remove jobs from core to finished queue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>
                <a:ea typeface="+mn-lt"/>
                <a:cs typeface="+mn-lt"/>
              </a:rPr>
              <a:t>Handle unbinding and state tracking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All_done</a:t>
            </a:r>
            <a:r>
              <a:rPr lang="en-US">
                <a:ea typeface="+mn-lt"/>
                <a:cs typeface="+mn-lt"/>
              </a:rPr>
              <a:t> checks for any waiting or ready processes leftover in data structs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 main, call to collect finished jobs and check for end of job queue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594BD-67DE-073A-114B-91998DFE036D}"/>
              </a:ext>
            </a:extLst>
          </p:cNvPr>
          <p:cNvSpPr txBox="1"/>
          <p:nvPr/>
        </p:nvSpPr>
        <p:spPr>
          <a:xfrm>
            <a:off x="520005" y="4279430"/>
            <a:ext cx="1645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sim.c</a:t>
            </a:r>
            <a:endParaRPr lang="en-US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6E32E-8749-3B01-3416-8F098FCA9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77" y="1834741"/>
            <a:ext cx="4609655" cy="244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C0C30D-CDB3-B61F-9A49-4E49E82CB4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72" r="1010" b="5789"/>
          <a:stretch>
            <a:fillRect/>
          </a:stretch>
        </p:blipFill>
        <p:spPr>
          <a:xfrm>
            <a:off x="513379" y="4652950"/>
            <a:ext cx="3775697" cy="137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54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DFD-7A17-6191-494F-0957120C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Statistics and Logging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4E15D-053A-7682-BEF9-B6FEC7706EF3}"/>
              </a:ext>
            </a:extLst>
          </p:cNvPr>
          <p:cNvSpPr txBox="1"/>
          <p:nvPr/>
        </p:nvSpPr>
        <p:spPr>
          <a:xfrm>
            <a:off x="520303" y="3894821"/>
            <a:ext cx="13180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util.c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64115-BC4A-6B2B-3757-78C465A564DE}"/>
              </a:ext>
            </a:extLst>
          </p:cNvPr>
          <p:cNvSpPr txBox="1"/>
          <p:nvPr/>
        </p:nvSpPr>
        <p:spPr>
          <a:xfrm>
            <a:off x="6585418" y="2240253"/>
            <a:ext cx="535264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At the start of each simulation, log the generated or user entered workload and store in sim_log.txt</a:t>
            </a:r>
          </a:p>
          <a:p>
            <a:pPr marL="742950" lvl="1" indent="-285750">
              <a:buFont typeface="Arial"/>
              <a:buChar char="•"/>
            </a:pPr>
            <a:endParaRPr lang="en-US"/>
          </a:p>
          <a:p>
            <a:pPr marL="742950" lvl="1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A283354-FA60-9E11-EB3B-3041FC08D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777" y="2980259"/>
            <a:ext cx="5357590" cy="2445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86480-3D08-C861-3A1D-03882376C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61" y="2043558"/>
            <a:ext cx="5753638" cy="184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41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A1844-800E-40ED-2183-449B480A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9C1EF45-20A1-0FB0-076E-3E1C55AAE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3759AEF-4697-DA4B-510B-3188C485A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06614-57F0-5386-D4B4-6147ED32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749087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Statistics and Logging Continued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3A5409-F527-6800-A0D2-4377E86DF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503DD60-70DC-C080-21A5-985980F49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E2CFF-49D4-EC61-E48A-EDC61EC8F21B}"/>
              </a:ext>
            </a:extLst>
          </p:cNvPr>
          <p:cNvSpPr txBox="1"/>
          <p:nvPr/>
        </p:nvSpPr>
        <p:spPr>
          <a:xfrm>
            <a:off x="6273992" y="2240253"/>
            <a:ext cx="566407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Iterate over finished queue and compute response time, turnaround time, and wait time by reading respective Thread object members.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Print results to sim_log.txt to view queues at each tick, and statistics.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Print trace of what thread is running on each core to core_trace.txt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Python script reads core_trace.txt: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Visualize running queue with matplotlib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90AD1-B4B5-FA91-F5C8-5B53B00FAD4B}"/>
              </a:ext>
            </a:extLst>
          </p:cNvPr>
          <p:cNvSpPr txBox="1"/>
          <p:nvPr/>
        </p:nvSpPr>
        <p:spPr>
          <a:xfrm>
            <a:off x="537746" y="5444838"/>
            <a:ext cx="1645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From </a:t>
            </a:r>
            <a:r>
              <a:rPr lang="en-US" i="1" err="1"/>
              <a:t>sim.c</a:t>
            </a:r>
            <a:endParaRPr lang="en-US" i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492BAF-666D-1A25-4BB9-C839655CE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46" y="4640635"/>
            <a:ext cx="4553053" cy="7975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CF9775-4521-C16A-9A32-7CCD8A8B6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46" y="2817097"/>
            <a:ext cx="4278552" cy="18012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C96DB0-2954-E0B2-8E23-2548B9677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5" y="1772104"/>
            <a:ext cx="2777290" cy="102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32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49E77-CCFA-300F-EA11-6598C255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BB67-ECB8-B433-9FFD-8FDE10D7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Log and Timeline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1871-0527-1227-6DDD-99EAD2007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981" y="4963842"/>
            <a:ext cx="5675907" cy="1719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Small preset workload example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2 cores, 4 tasks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Gray space = idle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0C5DC7D5-252C-A7A9-2CA5-AEEB71A81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264" y="2022799"/>
            <a:ext cx="5674725" cy="21043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71EDB5-2DDE-65A2-963A-367F6AAA3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" r="43681" b="-110"/>
          <a:stretch>
            <a:fillRect/>
          </a:stretch>
        </p:blipFill>
        <p:spPr>
          <a:xfrm>
            <a:off x="3047486" y="2011545"/>
            <a:ext cx="2457202" cy="4228405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2E89D92-2877-A08D-8031-0F91C6191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86" y="2009804"/>
            <a:ext cx="2463194" cy="4230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083247-1289-65F2-3F97-6DF799186E41}"/>
              </a:ext>
            </a:extLst>
          </p:cNvPr>
          <p:cNvSpPr txBox="1">
            <a:spLocks/>
          </p:cNvSpPr>
          <p:nvPr/>
        </p:nvSpPr>
        <p:spPr>
          <a:xfrm>
            <a:off x="521207" y="6242677"/>
            <a:ext cx="3595316" cy="4410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From </a:t>
            </a:r>
            <a:r>
              <a:rPr lang="en-US" i="1"/>
              <a:t>sim_log.txt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CB952B-1948-D487-91E5-6817B7D72EBC}"/>
              </a:ext>
            </a:extLst>
          </p:cNvPr>
          <p:cNvSpPr txBox="1">
            <a:spLocks/>
          </p:cNvSpPr>
          <p:nvPr/>
        </p:nvSpPr>
        <p:spPr>
          <a:xfrm>
            <a:off x="6000981" y="4128955"/>
            <a:ext cx="3595316" cy="4410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Output plot </a:t>
            </a:r>
          </a:p>
        </p:txBody>
      </p:sp>
    </p:spTree>
    <p:extLst>
      <p:ext uri="{BB962C8B-B14F-4D97-AF65-F5344CB8AC3E}">
        <p14:creationId xmlns:p14="http://schemas.microsoft.com/office/powerpoint/2010/main" val="2005684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5184-98D2-7190-12E4-B84A0FF5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with RR Dispatch Example: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EE2502-F9E6-3244-F42E-D1EF281AF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08" y="5318763"/>
            <a:ext cx="5523152" cy="1415938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F51FE7C-D2B8-C719-4866-C0306075D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59" y="2124357"/>
            <a:ext cx="4760814" cy="24811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AC569-A601-8BE1-65DD-324004E4E1FF}"/>
              </a:ext>
            </a:extLst>
          </p:cNvPr>
          <p:cNvSpPr txBox="1"/>
          <p:nvPr/>
        </p:nvSpPr>
        <p:spPr>
          <a:xfrm>
            <a:off x="136549" y="1843854"/>
            <a:ext cx="25439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User Interface (CLI):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AF0D6-F4C8-8D9C-6AC4-E54E72EC0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79" y="5039777"/>
            <a:ext cx="5654057" cy="204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95D4C8-25AB-FE06-955A-9C1AE5D813A6}"/>
              </a:ext>
            </a:extLst>
          </p:cNvPr>
          <p:cNvSpPr txBox="1"/>
          <p:nvPr/>
        </p:nvSpPr>
        <p:spPr>
          <a:xfrm>
            <a:off x="134316" y="4720414"/>
            <a:ext cx="54350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core_trace.txt and python visualization:</a:t>
            </a:r>
          </a:p>
        </p:txBody>
      </p:sp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6B1A789-C2E0-8460-F24E-B28E6928D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734" y="2982209"/>
            <a:ext cx="4039949" cy="1446536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FB4ED70-FCFC-4DCB-86C0-E8FCE7F0A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1649" y="4722081"/>
            <a:ext cx="3945711" cy="14598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CB73CA-8B70-A7C6-2CEE-EA38531EFFDD}"/>
              </a:ext>
            </a:extLst>
          </p:cNvPr>
          <p:cNvSpPr txBox="1"/>
          <p:nvPr/>
        </p:nvSpPr>
        <p:spPr>
          <a:xfrm>
            <a:off x="7850954" y="2518189"/>
            <a:ext cx="23821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sim_log.txt:</a:t>
            </a:r>
          </a:p>
        </p:txBody>
      </p:sp>
    </p:spTree>
    <p:extLst>
      <p:ext uri="{BB962C8B-B14F-4D97-AF65-F5344CB8AC3E}">
        <p14:creationId xmlns:p14="http://schemas.microsoft.com/office/powerpoint/2010/main" val="237614613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GestaltVTI</vt:lpstr>
      <vt:lpstr>CPU Scheduler Simulator</vt:lpstr>
      <vt:lpstr>Scheduling Diagram</vt:lpstr>
      <vt:lpstr>Defining the Structure for Jobs</vt:lpstr>
      <vt:lpstr>Queue Structures</vt:lpstr>
      <vt:lpstr>Create a Process</vt:lpstr>
      <vt:lpstr>Move Jobs to READY</vt:lpstr>
      <vt:lpstr>CPU Structure with Multiple Cores</vt:lpstr>
      <vt:lpstr>RUNNING</vt:lpstr>
      <vt:lpstr>Dispatcher: Scheduling Policies</vt:lpstr>
      <vt:lpstr>READY to RUNNING</vt:lpstr>
      <vt:lpstr>READY to RUNNING Continued</vt:lpstr>
      <vt:lpstr>Dispatch Handler: FIFO Policy</vt:lpstr>
      <vt:lpstr>Dispatch Handler: SJF Policy</vt:lpstr>
      <vt:lpstr>Dispatch Handler: SRTCF Policy</vt:lpstr>
      <vt:lpstr>Dispatch Handler: RR Policy</vt:lpstr>
      <vt:lpstr>Dispatch Handler: Priority Policy</vt:lpstr>
      <vt:lpstr>Dispatch Handler: Priority Policy Cont.</vt:lpstr>
      <vt:lpstr>WAITING (BLOCKED)</vt:lpstr>
      <vt:lpstr>Resolve WAITING</vt:lpstr>
      <vt:lpstr>Complete Jobs</vt:lpstr>
      <vt:lpstr>Statistics and Logging</vt:lpstr>
      <vt:lpstr>Statistics and Logging Continued</vt:lpstr>
      <vt:lpstr>Output Log and Timeline Example</vt:lpstr>
      <vt:lpstr>Simulating with RR Dispatch Example: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98</cp:revision>
  <dcterms:created xsi:type="dcterms:W3CDTF">2025-11-12T17:59:43Z</dcterms:created>
  <dcterms:modified xsi:type="dcterms:W3CDTF">2025-11-16T01:13:36Z</dcterms:modified>
</cp:coreProperties>
</file>