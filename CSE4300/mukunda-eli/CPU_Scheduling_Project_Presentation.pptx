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2"/>
    <p:restoredTop sz="94624"/>
  </p:normalViewPr>
  <p:slideViewPr>
    <p:cSldViewPr snapToGrid="0" snapToObjects="1">
      <p:cViewPr varScale="1">
        <p:scale>
          <a:sx n="111" d="100"/>
          <a:sy n="111" d="100"/>
        </p:scale>
        <p:origin x="174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E97962-66AD-4BF1-8645-EC287D2B90FC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04FC858-28BD-4786-BDFC-1AE6A91882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Project Completed Successfully: Built a fully functional C-based CPU Scheduling Simulator implementing SJF, SRTF, Round Robin, and Priority Scheduling</a:t>
          </a:r>
        </a:p>
      </dgm:t>
    </dgm:pt>
    <dgm:pt modelId="{C560E167-5B91-461B-AC94-DFB6EF667E9B}" type="parTrans" cxnId="{0626741B-989E-4221-8309-A5240E0B1AA0}">
      <dgm:prSet/>
      <dgm:spPr/>
      <dgm:t>
        <a:bodyPr/>
        <a:lstStyle/>
        <a:p>
          <a:endParaRPr lang="en-US"/>
        </a:p>
      </dgm:t>
    </dgm:pt>
    <dgm:pt modelId="{E9E8C5A2-8F4B-4EC9-9575-12FB8FBFAF14}" type="sibTrans" cxnId="{0626741B-989E-4221-8309-A5240E0B1AA0}">
      <dgm:prSet/>
      <dgm:spPr/>
      <dgm:t>
        <a:bodyPr/>
        <a:lstStyle/>
        <a:p>
          <a:endParaRPr lang="en-US"/>
        </a:p>
      </dgm:t>
    </dgm:pt>
    <dgm:pt modelId="{24F1D9CC-C609-4E7E-BEBD-7489DBD711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Understanding Trade-offs: Results highlight differences in waiting and turnaround times between preemptive and non-preemptive policies.</a:t>
          </a:r>
        </a:p>
      </dgm:t>
    </dgm:pt>
    <dgm:pt modelId="{527A0078-CC8D-4F0D-A39A-DD4767F7E539}" type="parTrans" cxnId="{8944E78D-4D00-4738-9C48-B1E10694F05E}">
      <dgm:prSet/>
      <dgm:spPr/>
      <dgm:t>
        <a:bodyPr/>
        <a:lstStyle/>
        <a:p>
          <a:endParaRPr lang="en-US"/>
        </a:p>
      </dgm:t>
    </dgm:pt>
    <dgm:pt modelId="{FF41AC81-D448-493D-AD86-EF1A7067374B}" type="sibTrans" cxnId="{8944E78D-4D00-4738-9C48-B1E10694F05E}">
      <dgm:prSet/>
      <dgm:spPr/>
      <dgm:t>
        <a:bodyPr/>
        <a:lstStyle/>
        <a:p>
          <a:endParaRPr lang="en-US"/>
        </a:p>
      </dgm:t>
    </dgm:pt>
    <dgm:pt modelId="{D50723CF-4BCF-4F75-8B06-E5E134B184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Hands-On OS Experience: Strengthened understanding of process states, CPU bursts, preemption, and context switching.</a:t>
          </a:r>
          <a:endParaRPr lang="en-US" dirty="0"/>
        </a:p>
      </dgm:t>
    </dgm:pt>
    <dgm:pt modelId="{56932A7C-EFE2-44A3-A974-193B28EB8A64}" type="parTrans" cxnId="{3F311927-D0C5-49B3-922B-A8B89A381497}">
      <dgm:prSet/>
      <dgm:spPr/>
      <dgm:t>
        <a:bodyPr/>
        <a:lstStyle/>
        <a:p>
          <a:endParaRPr lang="en-US"/>
        </a:p>
      </dgm:t>
    </dgm:pt>
    <dgm:pt modelId="{40883C35-D505-46E7-9FB8-4778C9074FEB}" type="sibTrans" cxnId="{3F311927-D0C5-49B3-922B-A8B89A381497}">
      <dgm:prSet/>
      <dgm:spPr/>
      <dgm:t>
        <a:bodyPr/>
        <a:lstStyle/>
        <a:p>
          <a:endParaRPr lang="en-US"/>
        </a:p>
      </dgm:t>
    </dgm:pt>
    <dgm:pt modelId="{02E91833-4C3D-F64B-A581-5501B7C6EB4B}" type="pres">
      <dgm:prSet presAssocID="{C1E97962-66AD-4BF1-8645-EC287D2B90FC}" presName="vert0" presStyleCnt="0">
        <dgm:presLayoutVars>
          <dgm:dir/>
          <dgm:animOne val="branch"/>
          <dgm:animLvl val="lvl"/>
        </dgm:presLayoutVars>
      </dgm:prSet>
      <dgm:spPr/>
    </dgm:pt>
    <dgm:pt modelId="{B29D5F37-298D-5D4D-B6F7-2CBD01A7484F}" type="pres">
      <dgm:prSet presAssocID="{404FC858-28BD-4786-BDFC-1AE6A9188218}" presName="thickLine" presStyleLbl="alignNode1" presStyleIdx="0" presStyleCnt="3"/>
      <dgm:spPr/>
    </dgm:pt>
    <dgm:pt modelId="{8FE8B72E-57F2-FF40-BB4A-C93E5A577D9F}" type="pres">
      <dgm:prSet presAssocID="{404FC858-28BD-4786-BDFC-1AE6A9188218}" presName="horz1" presStyleCnt="0"/>
      <dgm:spPr/>
    </dgm:pt>
    <dgm:pt modelId="{62E332B3-CDF4-AC41-B4A2-A41DCAFC3894}" type="pres">
      <dgm:prSet presAssocID="{404FC858-28BD-4786-BDFC-1AE6A9188218}" presName="tx1" presStyleLbl="revTx" presStyleIdx="0" presStyleCnt="3"/>
      <dgm:spPr/>
    </dgm:pt>
    <dgm:pt modelId="{CC6A98A0-E619-D144-9820-DD6B725E9782}" type="pres">
      <dgm:prSet presAssocID="{404FC858-28BD-4786-BDFC-1AE6A9188218}" presName="vert1" presStyleCnt="0"/>
      <dgm:spPr/>
    </dgm:pt>
    <dgm:pt modelId="{82BAC6B8-067B-1E41-9453-DF1B8569075D}" type="pres">
      <dgm:prSet presAssocID="{24F1D9CC-C609-4E7E-BEBD-7489DBD71116}" presName="thickLine" presStyleLbl="alignNode1" presStyleIdx="1" presStyleCnt="3"/>
      <dgm:spPr/>
    </dgm:pt>
    <dgm:pt modelId="{20F9EADE-287F-F946-B35D-834E83F84557}" type="pres">
      <dgm:prSet presAssocID="{24F1D9CC-C609-4E7E-BEBD-7489DBD71116}" presName="horz1" presStyleCnt="0"/>
      <dgm:spPr/>
    </dgm:pt>
    <dgm:pt modelId="{3D0453E0-473A-764D-9443-EFA15D5BE6A5}" type="pres">
      <dgm:prSet presAssocID="{24F1D9CC-C609-4E7E-BEBD-7489DBD71116}" presName="tx1" presStyleLbl="revTx" presStyleIdx="1" presStyleCnt="3"/>
      <dgm:spPr/>
    </dgm:pt>
    <dgm:pt modelId="{9A92EAEB-D528-9E49-B7EA-C3A913AE6D26}" type="pres">
      <dgm:prSet presAssocID="{24F1D9CC-C609-4E7E-BEBD-7489DBD71116}" presName="vert1" presStyleCnt="0"/>
      <dgm:spPr/>
    </dgm:pt>
    <dgm:pt modelId="{C4B8429F-5BA7-324B-9C9D-830B7F0723AB}" type="pres">
      <dgm:prSet presAssocID="{D50723CF-4BCF-4F75-8B06-E5E134B184DD}" presName="thickLine" presStyleLbl="alignNode1" presStyleIdx="2" presStyleCnt="3"/>
      <dgm:spPr/>
    </dgm:pt>
    <dgm:pt modelId="{9A66F755-1FBF-694B-A087-DD96E474E142}" type="pres">
      <dgm:prSet presAssocID="{D50723CF-4BCF-4F75-8B06-E5E134B184DD}" presName="horz1" presStyleCnt="0"/>
      <dgm:spPr/>
    </dgm:pt>
    <dgm:pt modelId="{8159B405-52AA-9F4A-9FCC-65F23CE7AB2C}" type="pres">
      <dgm:prSet presAssocID="{D50723CF-4BCF-4F75-8B06-E5E134B184DD}" presName="tx1" presStyleLbl="revTx" presStyleIdx="2" presStyleCnt="3"/>
      <dgm:spPr/>
    </dgm:pt>
    <dgm:pt modelId="{131F1CB4-0EEC-CA49-9CB0-9AE08279B52B}" type="pres">
      <dgm:prSet presAssocID="{D50723CF-4BCF-4F75-8B06-E5E134B184DD}" presName="vert1" presStyleCnt="0"/>
      <dgm:spPr/>
    </dgm:pt>
  </dgm:ptLst>
  <dgm:cxnLst>
    <dgm:cxn modelId="{501ECA08-6810-F548-B283-84CF184DBB09}" type="presOf" srcId="{24F1D9CC-C609-4E7E-BEBD-7489DBD71116}" destId="{3D0453E0-473A-764D-9443-EFA15D5BE6A5}" srcOrd="0" destOrd="0" presId="urn:microsoft.com/office/officeart/2008/layout/LinedList"/>
    <dgm:cxn modelId="{0626741B-989E-4221-8309-A5240E0B1AA0}" srcId="{C1E97962-66AD-4BF1-8645-EC287D2B90FC}" destId="{404FC858-28BD-4786-BDFC-1AE6A9188218}" srcOrd="0" destOrd="0" parTransId="{C560E167-5B91-461B-AC94-DFB6EF667E9B}" sibTransId="{E9E8C5A2-8F4B-4EC9-9575-12FB8FBFAF14}"/>
    <dgm:cxn modelId="{3F311927-D0C5-49B3-922B-A8B89A381497}" srcId="{C1E97962-66AD-4BF1-8645-EC287D2B90FC}" destId="{D50723CF-4BCF-4F75-8B06-E5E134B184DD}" srcOrd="2" destOrd="0" parTransId="{56932A7C-EFE2-44A3-A974-193B28EB8A64}" sibTransId="{40883C35-D505-46E7-9FB8-4778C9074FEB}"/>
    <dgm:cxn modelId="{3DF46071-B3C6-2045-B371-00DAA269DD4A}" type="presOf" srcId="{C1E97962-66AD-4BF1-8645-EC287D2B90FC}" destId="{02E91833-4C3D-F64B-A581-5501B7C6EB4B}" srcOrd="0" destOrd="0" presId="urn:microsoft.com/office/officeart/2008/layout/LinedList"/>
    <dgm:cxn modelId="{8944E78D-4D00-4738-9C48-B1E10694F05E}" srcId="{C1E97962-66AD-4BF1-8645-EC287D2B90FC}" destId="{24F1D9CC-C609-4E7E-BEBD-7489DBD71116}" srcOrd="1" destOrd="0" parTransId="{527A0078-CC8D-4F0D-A39A-DD4767F7E539}" sibTransId="{FF41AC81-D448-493D-AD86-EF1A7067374B}"/>
    <dgm:cxn modelId="{56DA458E-A080-1447-9FB1-0008A8F40406}" type="presOf" srcId="{D50723CF-4BCF-4F75-8B06-E5E134B184DD}" destId="{8159B405-52AA-9F4A-9FCC-65F23CE7AB2C}" srcOrd="0" destOrd="0" presId="urn:microsoft.com/office/officeart/2008/layout/LinedList"/>
    <dgm:cxn modelId="{50B40E91-DC50-AA4E-9E6F-A8C19A81D06C}" type="presOf" srcId="{404FC858-28BD-4786-BDFC-1AE6A9188218}" destId="{62E332B3-CDF4-AC41-B4A2-A41DCAFC3894}" srcOrd="0" destOrd="0" presId="urn:microsoft.com/office/officeart/2008/layout/LinedList"/>
    <dgm:cxn modelId="{18DF4E19-3BD0-F645-85E8-598ADAD5D35C}" type="presParOf" srcId="{02E91833-4C3D-F64B-A581-5501B7C6EB4B}" destId="{B29D5F37-298D-5D4D-B6F7-2CBD01A7484F}" srcOrd="0" destOrd="0" presId="urn:microsoft.com/office/officeart/2008/layout/LinedList"/>
    <dgm:cxn modelId="{0677F77E-7B68-5A42-A372-92266CB4031B}" type="presParOf" srcId="{02E91833-4C3D-F64B-A581-5501B7C6EB4B}" destId="{8FE8B72E-57F2-FF40-BB4A-C93E5A577D9F}" srcOrd="1" destOrd="0" presId="urn:microsoft.com/office/officeart/2008/layout/LinedList"/>
    <dgm:cxn modelId="{F93250A3-AD7B-714F-9083-92E47F4BD53A}" type="presParOf" srcId="{8FE8B72E-57F2-FF40-BB4A-C93E5A577D9F}" destId="{62E332B3-CDF4-AC41-B4A2-A41DCAFC3894}" srcOrd="0" destOrd="0" presId="urn:microsoft.com/office/officeart/2008/layout/LinedList"/>
    <dgm:cxn modelId="{E2781765-28EE-CD4A-995A-A62CD96EB8C3}" type="presParOf" srcId="{8FE8B72E-57F2-FF40-BB4A-C93E5A577D9F}" destId="{CC6A98A0-E619-D144-9820-DD6B725E9782}" srcOrd="1" destOrd="0" presId="urn:microsoft.com/office/officeart/2008/layout/LinedList"/>
    <dgm:cxn modelId="{1D7054EF-29BC-BD45-A105-49630A4FA4C9}" type="presParOf" srcId="{02E91833-4C3D-F64B-A581-5501B7C6EB4B}" destId="{82BAC6B8-067B-1E41-9453-DF1B8569075D}" srcOrd="2" destOrd="0" presId="urn:microsoft.com/office/officeart/2008/layout/LinedList"/>
    <dgm:cxn modelId="{21452A36-6131-A045-8412-F486AFF02646}" type="presParOf" srcId="{02E91833-4C3D-F64B-A581-5501B7C6EB4B}" destId="{20F9EADE-287F-F946-B35D-834E83F84557}" srcOrd="3" destOrd="0" presId="urn:microsoft.com/office/officeart/2008/layout/LinedList"/>
    <dgm:cxn modelId="{22B1B726-F152-B74E-8C48-A341A5C11691}" type="presParOf" srcId="{20F9EADE-287F-F946-B35D-834E83F84557}" destId="{3D0453E0-473A-764D-9443-EFA15D5BE6A5}" srcOrd="0" destOrd="0" presId="urn:microsoft.com/office/officeart/2008/layout/LinedList"/>
    <dgm:cxn modelId="{82E1F11E-82E1-9145-959F-A7FF217A2997}" type="presParOf" srcId="{20F9EADE-287F-F946-B35D-834E83F84557}" destId="{9A92EAEB-D528-9E49-B7EA-C3A913AE6D26}" srcOrd="1" destOrd="0" presId="urn:microsoft.com/office/officeart/2008/layout/LinedList"/>
    <dgm:cxn modelId="{32382646-6D73-2D40-9174-671AC6E185FA}" type="presParOf" srcId="{02E91833-4C3D-F64B-A581-5501B7C6EB4B}" destId="{C4B8429F-5BA7-324B-9C9D-830B7F0723AB}" srcOrd="4" destOrd="0" presId="urn:microsoft.com/office/officeart/2008/layout/LinedList"/>
    <dgm:cxn modelId="{85725997-1A5E-5844-A722-7053602B9AE8}" type="presParOf" srcId="{02E91833-4C3D-F64B-A581-5501B7C6EB4B}" destId="{9A66F755-1FBF-694B-A087-DD96E474E142}" srcOrd="5" destOrd="0" presId="urn:microsoft.com/office/officeart/2008/layout/LinedList"/>
    <dgm:cxn modelId="{2C0D73F3-7513-B14B-ACE5-6C710C29EB86}" type="presParOf" srcId="{9A66F755-1FBF-694B-A087-DD96E474E142}" destId="{8159B405-52AA-9F4A-9FCC-65F23CE7AB2C}" srcOrd="0" destOrd="0" presId="urn:microsoft.com/office/officeart/2008/layout/LinedList"/>
    <dgm:cxn modelId="{6B188D06-EBEC-2C4A-B44E-97ACC0B085EA}" type="presParOf" srcId="{9A66F755-1FBF-694B-A087-DD96E474E142}" destId="{131F1CB4-0EEC-CA49-9CB0-9AE08279B52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9D5F37-298D-5D4D-B6F7-2CBD01A7484F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332B3-CDF4-AC41-B4A2-A41DCAFC3894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• Project Completed Successfully: Built a fully functional C-based CPU Scheduling Simulator implementing SJF, SRTF, Round Robin, and Priority Scheduling</a:t>
          </a:r>
        </a:p>
      </dsp:txBody>
      <dsp:txXfrm>
        <a:off x="0" y="2703"/>
        <a:ext cx="5175384" cy="1843578"/>
      </dsp:txXfrm>
    </dsp:sp>
    <dsp:sp modelId="{82BAC6B8-067B-1E41-9453-DF1B8569075D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60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0453E0-473A-764D-9443-EFA15D5BE6A5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• Understanding Trade-offs: Results highlight differences in waiting and turnaround times between preemptive and non-preemptive policies.</a:t>
          </a:r>
        </a:p>
      </dsp:txBody>
      <dsp:txXfrm>
        <a:off x="0" y="1846281"/>
        <a:ext cx="5175384" cy="1843578"/>
      </dsp:txXfrm>
    </dsp:sp>
    <dsp:sp modelId="{C4B8429F-5BA7-324B-9C9D-830B7F0723AB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9B405-52AA-9F4A-9FCC-65F23CE7AB2C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Hands-On OS Experience: Strengthened understanding of process states, CPU bursts, preemption, and context switching.</a:t>
          </a:r>
          <a:endParaRPr lang="en-US" sz="2300" kern="1200" dirty="0"/>
        </a:p>
      </dsp:txBody>
      <dsp:txXfrm>
        <a:off x="0" y="3689859"/>
        <a:ext cx="5175384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CPU Scheduling Simulator</a:t>
            </a:r>
            <a:endParaRPr lang="en-US" sz="4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963290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/>
              <a:t>Mukunda Joshi and Eli Perchenok</a:t>
            </a:r>
          </a:p>
          <a:p>
            <a:pPr algn="l">
              <a:lnSpc>
                <a:spcPct val="90000"/>
              </a:lnSpc>
            </a:pPr>
            <a:r>
              <a:rPr lang="en-US" sz="2700"/>
              <a:t>CSE 4300 – Operating Systems</a:t>
            </a:r>
            <a:endParaRPr lang="en-US" sz="2700" dirty="0"/>
          </a:p>
        </p:txBody>
      </p:sp>
      <p:pic>
        <p:nvPicPr>
          <p:cNvPr id="14" name="Picture 13" descr="Padlock on computer motherboard">
            <a:extLst>
              <a:ext uri="{FF2B5EF4-FFF2-40B4-BE49-F238E27FC236}">
                <a16:creationId xmlns:a16="http://schemas.microsoft.com/office/drawing/2014/main" id="{332E3BD4-70BC-191A-E96D-C8225F6947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24" r="44678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CPU Scheduling determines which process runs next on the CPU.</a:t>
            </a:r>
          </a:p>
          <a:p>
            <a:r>
              <a:rPr lang="en-US" dirty="0"/>
              <a:t>Goal: Build a simulator to compare algorithms using turnaround and waiting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Implemented Algorithms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3481199" y="591344"/>
            <a:ext cx="5365087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000" dirty="0"/>
              <a:t>In this project, we implemented four CPU scheduling algorithms: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• Shortest Job First (SJF)</a:t>
            </a:r>
            <a:endParaRPr lang="en-US" dirty="0"/>
          </a:p>
          <a:p>
            <a:pPr marL="0" indent="0">
              <a:buNone/>
            </a:pPr>
            <a:r>
              <a:rPr dirty="0"/>
              <a:t>• Shortest Remaining Time First (SRTF)</a:t>
            </a:r>
            <a:endParaRPr lang="en-US" dirty="0"/>
          </a:p>
          <a:p>
            <a:pPr marL="0" indent="0">
              <a:buNone/>
            </a:pPr>
            <a:r>
              <a:rPr dirty="0"/>
              <a:t>• Round Robin (RR)</a:t>
            </a:r>
            <a:endParaRPr lang="en-US" dirty="0"/>
          </a:p>
          <a:p>
            <a:pPr marL="0" indent="0">
              <a:buNone/>
            </a:pPr>
            <a:r>
              <a:rPr dirty="0"/>
              <a:t>• Priority Scheduling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Simulator Design &amp; Structure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Written in C using structs to store process data</a:t>
            </a:r>
          </a:p>
          <a:p>
            <a:pPr lvl="1"/>
            <a:r>
              <a:rPr dirty="0"/>
              <a:t>Dynamic queues for Round Robin</a:t>
            </a:r>
          </a:p>
          <a:p>
            <a:pPr lvl="1"/>
            <a:r>
              <a:rPr dirty="0"/>
              <a:t>Calculates completion, turnaround, and waiting times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How the Program Works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0" y="591344"/>
            <a:ext cx="5574603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User selects scheduling algorithm (SJF, SRTF, RR, Priority)</a:t>
            </a:r>
          </a:p>
          <a:p>
            <a:pPr lvl="1">
              <a:defRPr sz="1800"/>
            </a:pPr>
            <a:r>
              <a:rPr lang="en-US" sz="2000" dirty="0"/>
              <a:t>User enters process arrival and burst times</a:t>
            </a:r>
          </a:p>
          <a:p>
            <a:pPr lvl="1">
              <a:defRPr sz="1800"/>
            </a:pPr>
            <a:r>
              <a:rPr lang="en-US" sz="2000" dirty="0"/>
              <a:t>For Round Robin: user enters time quantum</a:t>
            </a:r>
          </a:p>
          <a:p>
            <a:pPr lvl="1">
              <a:defRPr sz="1800"/>
            </a:pPr>
            <a:r>
              <a:rPr lang="en-US" sz="2000" dirty="0"/>
              <a:t>Program simulates scheduling order based on selected algorithm</a:t>
            </a:r>
          </a:p>
          <a:p>
            <a:pPr lvl="1">
              <a:defRPr sz="1800"/>
            </a:pPr>
            <a:r>
              <a:rPr lang="en-US" sz="2000" dirty="0"/>
              <a:t>Computes completion, turnaround, and waiting times for each process</a:t>
            </a:r>
          </a:p>
          <a:p>
            <a:pPr lvl="1">
              <a:defRPr sz="1800"/>
            </a:pPr>
            <a:r>
              <a:rPr lang="en-US" sz="2000" dirty="0"/>
              <a:t>Prints final results and averages to the terminal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SRTF Output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f35524a8-7013-42c2-b508-b2d5302ec8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198" y="310142"/>
            <a:ext cx="5339153" cy="64133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SJF Output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2e0f279e-d3d7-4d5e-a77c-8e21b9e627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088" y="573338"/>
            <a:ext cx="5822596" cy="59123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Round Robin Output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36d55238-22ce-4df9-84ec-55ab50bc56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429" y="352273"/>
            <a:ext cx="5371587" cy="64067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Priority Output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9c769996-bea4-4ba6-9c2e-058822410e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393" y="375242"/>
            <a:ext cx="4990974" cy="62568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Conclusions &amp; Key Takeaways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F33AFD3-17DD-A449-C553-40A3A4D0C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084493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236</Words>
  <Application>Microsoft Macintosh PowerPoint</Application>
  <PresentationFormat>On-screen Show (4:3)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CPU Scheduling Simulator</vt:lpstr>
      <vt:lpstr>Overview</vt:lpstr>
      <vt:lpstr>Implemented Algorithms</vt:lpstr>
      <vt:lpstr>Simulator Design &amp; Structure</vt:lpstr>
      <vt:lpstr>How the Program Works</vt:lpstr>
      <vt:lpstr>SRTF Output</vt:lpstr>
      <vt:lpstr>SJF Output</vt:lpstr>
      <vt:lpstr>Round Robin Output</vt:lpstr>
      <vt:lpstr>Priority Output</vt:lpstr>
      <vt:lpstr>Conclusions &amp; 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Perchenok, Eli</cp:lastModifiedBy>
  <cp:revision>7</cp:revision>
  <dcterms:created xsi:type="dcterms:W3CDTF">2013-01-27T09:14:16Z</dcterms:created>
  <dcterms:modified xsi:type="dcterms:W3CDTF">2025-11-15T22:14:24Z</dcterms:modified>
  <cp:category/>
</cp:coreProperties>
</file>