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64" r:id="rId4"/>
    <p:sldId id="259" r:id="rId5"/>
    <p:sldId id="260" r:id="rId6"/>
    <p:sldId id="258" r:id="rId7"/>
    <p:sldId id="268" r:id="rId8"/>
    <p:sldId id="273" r:id="rId9"/>
    <p:sldId id="270" r:id="rId10"/>
    <p:sldId id="271" r:id="rId11"/>
    <p:sldId id="272" r:id="rId12"/>
    <p:sldId id="263" r:id="rId13"/>
    <p:sldId id="265" r:id="rId14"/>
    <p:sldId id="275" r:id="rId15"/>
    <p:sldId id="266" r:id="rId16"/>
    <p:sldId id="274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ED634-E0C1-6AF6-249F-4B944EF4608C}" v="1" dt="2025-11-14T22:19:54.083"/>
    <p1510:client id="{98D6B4C3-F205-4B21-CAC0-2BA6F4B42FF5}" v="505" dt="2025-11-14T22:40:07.281"/>
    <p1510:client id="{BDDC770B-235C-C280-658C-609093FD8C66}" v="50" dt="2025-11-15T18:55:43.534"/>
    <p1510:client id="{CD75B010-6D81-9006-2B71-1F424CD679A0}" v="732" dt="2025-11-16T01:29:18.919"/>
    <p1510:client id="{F24710CC-1468-2C4D-87A7-A4C88340D298}" v="267" dt="2025-11-16T04:24:36.208"/>
    <p1510:client id="{F661D892-578D-A207-1227-C9A154798DFD}" v="32" dt="2025-11-15T17:00:43.007"/>
    <p1510:client id="{F7AB2033-F8D3-76E8-26EB-0D2BAD9A194F}" v="96" dt="2025-11-15T20:04:33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conn-my.sharepoint.com/personal/jesse_kuhns_uconn_edu/Documents/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conn-my.sharepoint.com/personal/jesse_kuhns_uconn_edu/Documents/Boo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Idle Time for Each Scheduler</a:t>
            </a:r>
          </a:p>
        </c:rich>
      </c:tx>
      <c:layout>
        <c:manualLayout>
          <c:xMode val="edge"/>
          <c:yMode val="edge"/>
          <c:x val="0.22370122484689414"/>
          <c:y val="3.47222222222222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{"CFS"}</c:f>
              <c:strCache>
                <c:ptCount val="1"/>
                <c:pt idx="0">
                  <c:v>CFS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Sheet1!D5:D9</c:f>
              <c:numCache>
                <c:formatCode>General</c:formatCode>
                <c:ptCount val="5"/>
                <c:pt idx="0">
                  <c:v>23</c:v>
                </c:pt>
                <c:pt idx="1">
                  <c:v>24</c:v>
                </c:pt>
                <c:pt idx="2">
                  <c:v>62</c:v>
                </c:pt>
                <c:pt idx="3">
                  <c:v>55</c:v>
                </c:pt>
                <c:pt idx="4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99-4606-8DAA-F0285D28B085}"/>
            </c:ext>
          </c:extLst>
        </c:ser>
        <c:ser>
          <c:idx val="2"/>
          <c:order val="1"/>
          <c:tx>
            <c:strRef>
              <c:f>{"RR"}</c:f>
              <c:strCache>
                <c:ptCount val="1"/>
                <c:pt idx="0">
                  <c:v>RR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Sheet1!H5:H9</c:f>
              <c:numCache>
                <c:formatCode>General</c:formatCode>
                <c:ptCount val="5"/>
                <c:pt idx="0">
                  <c:v>403</c:v>
                </c:pt>
                <c:pt idx="1">
                  <c:v>443</c:v>
                </c:pt>
                <c:pt idx="2">
                  <c:v>459</c:v>
                </c:pt>
                <c:pt idx="3">
                  <c:v>433</c:v>
                </c:pt>
                <c:pt idx="4">
                  <c:v>436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99-4606-8DAA-F0285D28B085}"/>
            </c:ext>
          </c:extLst>
        </c:ser>
        <c:ser>
          <c:idx val="0"/>
          <c:order val="2"/>
          <c:tx>
            <c:strRef>
              <c:f>{"FIFO"}</c:f>
              <c:strCache>
                <c:ptCount val="1"/>
                <c:pt idx="0">
                  <c:v>FIFO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Sheet1!$D$13:$D$17</c:f>
              <c:numCache>
                <c:formatCode>General</c:formatCode>
                <c:ptCount val="5"/>
                <c:pt idx="0">
                  <c:v>492</c:v>
                </c:pt>
                <c:pt idx="1">
                  <c:v>648</c:v>
                </c:pt>
                <c:pt idx="2">
                  <c:v>579</c:v>
                </c:pt>
                <c:pt idx="3">
                  <c:v>509</c:v>
                </c:pt>
                <c:pt idx="4">
                  <c:v>449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99-4606-8DAA-F0285D28B085}"/>
            </c:ext>
          </c:extLst>
        </c:ser>
        <c:ser>
          <c:idx val="3"/>
          <c:order val="3"/>
          <c:tx>
            <c:strRef>
              <c:f>{"Prio"}</c:f>
              <c:strCache>
                <c:ptCount val="1"/>
                <c:pt idx="0">
                  <c:v>Prio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Sheet1!H13:H17</c:f>
              <c:numCache>
                <c:formatCode>General</c:formatCode>
                <c:ptCount val="5"/>
                <c:pt idx="0">
                  <c:v>571</c:v>
                </c:pt>
                <c:pt idx="1">
                  <c:v>544</c:v>
                </c:pt>
                <c:pt idx="2">
                  <c:v>538</c:v>
                </c:pt>
                <c:pt idx="3">
                  <c:v>471</c:v>
                </c:pt>
                <c:pt idx="4">
                  <c:v>596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A99-4606-8DAA-F0285D28B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8029703"/>
        <c:axId val="248031751"/>
      </c:lineChart>
      <c:catAx>
        <c:axId val="2480297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Test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031751"/>
        <c:crosses val="autoZero"/>
        <c:auto val="1"/>
        <c:lblAlgn val="ctr"/>
        <c:lblOffset val="100"/>
        <c:noMultiLvlLbl val="0"/>
      </c:catAx>
      <c:valAx>
        <c:axId val="248031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Idle Time in Seconds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029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115266841644799"/>
          <c:y val="0.17150335374744821"/>
          <c:w val="0.13009733158355205"/>
          <c:h val="0.312502187226596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595959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Floating Point Operations per second for Each Scheduler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{"CFS"}</c:f>
              <c:strCache>
                <c:ptCount val="1"/>
                <c:pt idx="0">
                  <c:v>CFS</c:v>
                </c:pt>
              </c:strCache>
            </c:strRef>
          </c:tx>
          <c:spPr>
            <a:ln w="28575" cap="rnd">
              <a:solidFill>
                <a:srgbClr val="E87331"/>
              </a:solidFill>
              <a:prstDash val="solid"/>
              <a:round/>
            </a:ln>
            <a:effectLst/>
          </c:spPr>
          <c:marker>
            <c:symbol val="none"/>
          </c:marker>
          <c:val>
            <c:numRef>
              <c:f>Sheet1!$E$5:$E$9</c:f>
              <c:numCache>
                <c:formatCode>General</c:formatCode>
                <c:ptCount val="5"/>
                <c:pt idx="0">
                  <c:v>63984</c:v>
                </c:pt>
                <c:pt idx="1">
                  <c:v>63984</c:v>
                </c:pt>
                <c:pt idx="2">
                  <c:v>61578</c:v>
                </c:pt>
                <c:pt idx="3">
                  <c:v>61853</c:v>
                </c:pt>
                <c:pt idx="4">
                  <c:v>62616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DE-4108-9663-2A2DA2F57C67}"/>
            </c:ext>
          </c:extLst>
        </c:ser>
        <c:ser>
          <c:idx val="1"/>
          <c:order val="1"/>
          <c:tx>
            <c:strRef>
              <c:f>{"RR"}</c:f>
              <c:strCache>
                <c:ptCount val="1"/>
                <c:pt idx="0">
                  <c:v>RR</c:v>
                </c:pt>
              </c:strCache>
            </c:strRef>
          </c:tx>
          <c:spPr>
            <a:ln w="28575" cap="rnd">
              <a:solidFill>
                <a:srgbClr val="145F82"/>
              </a:solidFill>
              <a:prstDash val="solid"/>
              <a:round/>
            </a:ln>
            <a:effectLst/>
          </c:spPr>
          <c:marker>
            <c:symbol val="none"/>
          </c:marker>
          <c:val>
            <c:numRef>
              <c:f>Sheet1!I5:I9</c:f>
              <c:numCache>
                <c:formatCode>General</c:formatCode>
                <c:ptCount val="5"/>
                <c:pt idx="0">
                  <c:v>49941</c:v>
                </c:pt>
                <c:pt idx="1">
                  <c:v>48623</c:v>
                </c:pt>
                <c:pt idx="2">
                  <c:v>48000</c:v>
                </c:pt>
                <c:pt idx="3">
                  <c:v>50086</c:v>
                </c:pt>
                <c:pt idx="4">
                  <c:v>48924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DE-4108-9663-2A2DA2F57C67}"/>
            </c:ext>
          </c:extLst>
        </c:ser>
        <c:ser>
          <c:idx val="2"/>
          <c:order val="2"/>
          <c:tx>
            <c:strRef>
              <c:f>{"FIFO"}</c:f>
              <c:strCache>
                <c:ptCount val="1"/>
                <c:pt idx="0">
                  <c:v>FIFO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Sheet1!E13:E17</c:f>
              <c:numCache>
                <c:formatCode>General</c:formatCode>
                <c:ptCount val="5"/>
                <c:pt idx="0">
                  <c:v>47264</c:v>
                </c:pt>
                <c:pt idx="1">
                  <c:v>41971</c:v>
                </c:pt>
                <c:pt idx="2">
                  <c:v>43541</c:v>
                </c:pt>
                <c:pt idx="3">
                  <c:v>46873</c:v>
                </c:pt>
                <c:pt idx="4">
                  <c:v>48443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DE-4108-9663-2A2DA2F57C67}"/>
            </c:ext>
          </c:extLst>
        </c:ser>
        <c:ser>
          <c:idx val="3"/>
          <c:order val="3"/>
          <c:tx>
            <c:strRef>
              <c:f>{"Prio"}</c:f>
              <c:strCache>
                <c:ptCount val="1"/>
                <c:pt idx="0">
                  <c:v>Prio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Sheet1!I13:I17</c:f>
              <c:numCache>
                <c:formatCode>General</c:formatCode>
                <c:ptCount val="5"/>
                <c:pt idx="0" formatCode="#,##0">
                  <c:v>43790</c:v>
                </c:pt>
                <c:pt idx="1">
                  <c:v>44929</c:v>
                </c:pt>
                <c:pt idx="2">
                  <c:v>45692</c:v>
                </c:pt>
                <c:pt idx="3">
                  <c:v>48854</c:v>
                </c:pt>
                <c:pt idx="4">
                  <c:v>43994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1DE-4108-9663-2A2DA2F57C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8519944"/>
        <c:axId val="1428534280"/>
      </c:lineChart>
      <c:catAx>
        <c:axId val="1428519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Test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534280"/>
        <c:crosses val="autoZero"/>
        <c:auto val="1"/>
        <c:lblAlgn val="ctr"/>
        <c:lblOffset val="100"/>
        <c:noMultiLvlLbl val="0"/>
      </c:catAx>
      <c:valAx>
        <c:axId val="1428534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FPO per Second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8519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595959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70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5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1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7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4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5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9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622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0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58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0" r:id="rId6"/>
    <p:sldLayoutId id="2147483736" r:id="rId7"/>
    <p:sldLayoutId id="2147483737" r:id="rId8"/>
    <p:sldLayoutId id="2147483738" r:id="rId9"/>
    <p:sldLayoutId id="2147483739" r:id="rId10"/>
    <p:sldLayoutId id="214748374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05F5E-5B61-4F51-927C-5B28DB7DD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82C1C4-D961-459C-91C5-334ABD6E6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16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7B8B125-A98E-403C-9A7F-494FF789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0" y="0"/>
            <a:ext cx="11322200" cy="6858000"/>
          </a:xfrm>
          <a:custGeom>
            <a:avLst/>
            <a:gdLst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676142 w 11593823"/>
              <a:gd name="connsiteY2" fmla="*/ 0 h 6858000"/>
              <a:gd name="connsiteX3" fmla="*/ 4806770 w 11593823"/>
              <a:gd name="connsiteY3" fmla="*/ 0 h 6858000"/>
              <a:gd name="connsiteX4" fmla="*/ 4806770 w 11593823"/>
              <a:gd name="connsiteY4" fmla="*/ 2 h 6858000"/>
              <a:gd name="connsiteX5" fmla="*/ 9092864 w 11593823"/>
              <a:gd name="connsiteY5" fmla="*/ 2 h 6858000"/>
              <a:gd name="connsiteX6" fmla="*/ 9092866 w 11593823"/>
              <a:gd name="connsiteY6" fmla="*/ 0 h 6858000"/>
              <a:gd name="connsiteX7" fmla="*/ 11322200 w 11593823"/>
              <a:gd name="connsiteY7" fmla="*/ 0 h 6858000"/>
              <a:gd name="connsiteX8" fmla="*/ 11322198 w 11593823"/>
              <a:gd name="connsiteY8" fmla="*/ 2 h 6858000"/>
              <a:gd name="connsiteX9" fmla="*/ 11593823 w 11593823"/>
              <a:gd name="connsiteY9" fmla="*/ 2 h 6858000"/>
              <a:gd name="connsiteX10" fmla="*/ 11322197 w 11593823"/>
              <a:gd name="connsiteY10" fmla="*/ 4 h 6858000"/>
              <a:gd name="connsiteX11" fmla="*/ 5311608 w 11593823"/>
              <a:gd name="connsiteY11" fmla="*/ 6858000 h 6858000"/>
              <a:gd name="connsiteX12" fmla="*/ 5288856 w 11593823"/>
              <a:gd name="connsiteY12" fmla="*/ 6858000 h 6858000"/>
              <a:gd name="connsiteX13" fmla="*/ 4806770 w 11593823"/>
              <a:gd name="connsiteY13" fmla="*/ 6858000 h 6858000"/>
              <a:gd name="connsiteX14" fmla="*/ 4676142 w 11593823"/>
              <a:gd name="connsiteY14" fmla="*/ 6858000 h 6858000"/>
              <a:gd name="connsiteX15" fmla="*/ 3082273 w 11593823"/>
              <a:gd name="connsiteY15" fmla="*/ 6858000 h 6858000"/>
              <a:gd name="connsiteX16" fmla="*/ 2625273 w 11593823"/>
              <a:gd name="connsiteY16" fmla="*/ 6858000 h 6858000"/>
              <a:gd name="connsiteX17" fmla="*/ 2155010 w 11593823"/>
              <a:gd name="connsiteY17" fmla="*/ 6858000 h 6858000"/>
              <a:gd name="connsiteX18" fmla="*/ 0 w 11593823"/>
              <a:gd name="connsiteY18" fmla="*/ 685800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676142 w 11593823"/>
              <a:gd name="connsiteY2" fmla="*/ 0 h 6858000"/>
              <a:gd name="connsiteX3" fmla="*/ 4806770 w 11593823"/>
              <a:gd name="connsiteY3" fmla="*/ 0 h 6858000"/>
              <a:gd name="connsiteX4" fmla="*/ 4806770 w 11593823"/>
              <a:gd name="connsiteY4" fmla="*/ 2 h 6858000"/>
              <a:gd name="connsiteX5" fmla="*/ 9092864 w 11593823"/>
              <a:gd name="connsiteY5" fmla="*/ 2 h 6858000"/>
              <a:gd name="connsiteX6" fmla="*/ 11322200 w 11593823"/>
              <a:gd name="connsiteY6" fmla="*/ 0 h 6858000"/>
              <a:gd name="connsiteX7" fmla="*/ 11322198 w 11593823"/>
              <a:gd name="connsiteY7" fmla="*/ 2 h 6858000"/>
              <a:gd name="connsiteX8" fmla="*/ 11593823 w 11593823"/>
              <a:gd name="connsiteY8" fmla="*/ 2 h 6858000"/>
              <a:gd name="connsiteX9" fmla="*/ 11322197 w 11593823"/>
              <a:gd name="connsiteY9" fmla="*/ 4 h 6858000"/>
              <a:gd name="connsiteX10" fmla="*/ 5311608 w 11593823"/>
              <a:gd name="connsiteY10" fmla="*/ 6858000 h 6858000"/>
              <a:gd name="connsiteX11" fmla="*/ 5288856 w 11593823"/>
              <a:gd name="connsiteY11" fmla="*/ 6858000 h 6858000"/>
              <a:gd name="connsiteX12" fmla="*/ 4806770 w 11593823"/>
              <a:gd name="connsiteY12" fmla="*/ 6858000 h 6858000"/>
              <a:gd name="connsiteX13" fmla="*/ 4676142 w 11593823"/>
              <a:gd name="connsiteY13" fmla="*/ 6858000 h 6858000"/>
              <a:gd name="connsiteX14" fmla="*/ 3082273 w 11593823"/>
              <a:gd name="connsiteY14" fmla="*/ 6858000 h 6858000"/>
              <a:gd name="connsiteX15" fmla="*/ 2625273 w 11593823"/>
              <a:gd name="connsiteY15" fmla="*/ 6858000 h 6858000"/>
              <a:gd name="connsiteX16" fmla="*/ 2155010 w 11593823"/>
              <a:gd name="connsiteY16" fmla="*/ 6858000 h 6858000"/>
              <a:gd name="connsiteX17" fmla="*/ 0 w 11593823"/>
              <a:gd name="connsiteY17" fmla="*/ 6858000 h 6858000"/>
              <a:gd name="connsiteX18" fmla="*/ 0 w 11593823"/>
              <a:gd name="connsiteY18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676142 w 11593823"/>
              <a:gd name="connsiteY2" fmla="*/ 0 h 6858000"/>
              <a:gd name="connsiteX3" fmla="*/ 4806770 w 11593823"/>
              <a:gd name="connsiteY3" fmla="*/ 0 h 6858000"/>
              <a:gd name="connsiteX4" fmla="*/ 4806770 w 11593823"/>
              <a:gd name="connsiteY4" fmla="*/ 2 h 6858000"/>
              <a:gd name="connsiteX5" fmla="*/ 11322200 w 11593823"/>
              <a:gd name="connsiteY5" fmla="*/ 0 h 6858000"/>
              <a:gd name="connsiteX6" fmla="*/ 11322198 w 11593823"/>
              <a:gd name="connsiteY6" fmla="*/ 2 h 6858000"/>
              <a:gd name="connsiteX7" fmla="*/ 11593823 w 11593823"/>
              <a:gd name="connsiteY7" fmla="*/ 2 h 6858000"/>
              <a:gd name="connsiteX8" fmla="*/ 11322197 w 11593823"/>
              <a:gd name="connsiteY8" fmla="*/ 4 h 6858000"/>
              <a:gd name="connsiteX9" fmla="*/ 5311608 w 11593823"/>
              <a:gd name="connsiteY9" fmla="*/ 6858000 h 6858000"/>
              <a:gd name="connsiteX10" fmla="*/ 5288856 w 11593823"/>
              <a:gd name="connsiteY10" fmla="*/ 6858000 h 6858000"/>
              <a:gd name="connsiteX11" fmla="*/ 4806770 w 11593823"/>
              <a:gd name="connsiteY11" fmla="*/ 6858000 h 6858000"/>
              <a:gd name="connsiteX12" fmla="*/ 4676142 w 11593823"/>
              <a:gd name="connsiteY12" fmla="*/ 6858000 h 6858000"/>
              <a:gd name="connsiteX13" fmla="*/ 3082273 w 11593823"/>
              <a:gd name="connsiteY13" fmla="*/ 6858000 h 6858000"/>
              <a:gd name="connsiteX14" fmla="*/ 2625273 w 11593823"/>
              <a:gd name="connsiteY14" fmla="*/ 6858000 h 6858000"/>
              <a:gd name="connsiteX15" fmla="*/ 2155010 w 11593823"/>
              <a:gd name="connsiteY15" fmla="*/ 6858000 h 6858000"/>
              <a:gd name="connsiteX16" fmla="*/ 0 w 11593823"/>
              <a:gd name="connsiteY16" fmla="*/ 6858000 h 6858000"/>
              <a:gd name="connsiteX17" fmla="*/ 0 w 11593823"/>
              <a:gd name="connsiteY17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806770 w 11593823"/>
              <a:gd name="connsiteY2" fmla="*/ 0 h 6858000"/>
              <a:gd name="connsiteX3" fmla="*/ 4806770 w 11593823"/>
              <a:gd name="connsiteY3" fmla="*/ 2 h 6858000"/>
              <a:gd name="connsiteX4" fmla="*/ 11322200 w 11593823"/>
              <a:gd name="connsiteY4" fmla="*/ 0 h 6858000"/>
              <a:gd name="connsiteX5" fmla="*/ 11322198 w 11593823"/>
              <a:gd name="connsiteY5" fmla="*/ 2 h 6858000"/>
              <a:gd name="connsiteX6" fmla="*/ 11593823 w 11593823"/>
              <a:gd name="connsiteY6" fmla="*/ 2 h 6858000"/>
              <a:gd name="connsiteX7" fmla="*/ 11322197 w 11593823"/>
              <a:gd name="connsiteY7" fmla="*/ 4 h 6858000"/>
              <a:gd name="connsiteX8" fmla="*/ 5311608 w 11593823"/>
              <a:gd name="connsiteY8" fmla="*/ 6858000 h 6858000"/>
              <a:gd name="connsiteX9" fmla="*/ 5288856 w 11593823"/>
              <a:gd name="connsiteY9" fmla="*/ 6858000 h 6858000"/>
              <a:gd name="connsiteX10" fmla="*/ 4806770 w 11593823"/>
              <a:gd name="connsiteY10" fmla="*/ 6858000 h 6858000"/>
              <a:gd name="connsiteX11" fmla="*/ 4676142 w 11593823"/>
              <a:gd name="connsiteY11" fmla="*/ 6858000 h 6858000"/>
              <a:gd name="connsiteX12" fmla="*/ 3082273 w 11593823"/>
              <a:gd name="connsiteY12" fmla="*/ 6858000 h 6858000"/>
              <a:gd name="connsiteX13" fmla="*/ 2625273 w 11593823"/>
              <a:gd name="connsiteY13" fmla="*/ 6858000 h 6858000"/>
              <a:gd name="connsiteX14" fmla="*/ 2155010 w 11593823"/>
              <a:gd name="connsiteY14" fmla="*/ 6858000 h 6858000"/>
              <a:gd name="connsiteX15" fmla="*/ 0 w 11593823"/>
              <a:gd name="connsiteY15" fmla="*/ 6858000 h 6858000"/>
              <a:gd name="connsiteX16" fmla="*/ 0 w 11593823"/>
              <a:gd name="connsiteY16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4806770 w 11593823"/>
              <a:gd name="connsiteY2" fmla="*/ 0 h 6858000"/>
              <a:gd name="connsiteX3" fmla="*/ 11322200 w 11593823"/>
              <a:gd name="connsiteY3" fmla="*/ 0 h 6858000"/>
              <a:gd name="connsiteX4" fmla="*/ 11322198 w 11593823"/>
              <a:gd name="connsiteY4" fmla="*/ 2 h 6858000"/>
              <a:gd name="connsiteX5" fmla="*/ 11593823 w 11593823"/>
              <a:gd name="connsiteY5" fmla="*/ 2 h 6858000"/>
              <a:gd name="connsiteX6" fmla="*/ 11322197 w 11593823"/>
              <a:gd name="connsiteY6" fmla="*/ 4 h 6858000"/>
              <a:gd name="connsiteX7" fmla="*/ 5311608 w 11593823"/>
              <a:gd name="connsiteY7" fmla="*/ 6858000 h 6858000"/>
              <a:gd name="connsiteX8" fmla="*/ 5288856 w 11593823"/>
              <a:gd name="connsiteY8" fmla="*/ 6858000 h 6858000"/>
              <a:gd name="connsiteX9" fmla="*/ 4806770 w 11593823"/>
              <a:gd name="connsiteY9" fmla="*/ 6858000 h 6858000"/>
              <a:gd name="connsiteX10" fmla="*/ 4676142 w 11593823"/>
              <a:gd name="connsiteY10" fmla="*/ 6858000 h 6858000"/>
              <a:gd name="connsiteX11" fmla="*/ 3082273 w 11593823"/>
              <a:gd name="connsiteY11" fmla="*/ 6858000 h 6858000"/>
              <a:gd name="connsiteX12" fmla="*/ 2625273 w 11593823"/>
              <a:gd name="connsiteY12" fmla="*/ 6858000 h 6858000"/>
              <a:gd name="connsiteX13" fmla="*/ 2155010 w 11593823"/>
              <a:gd name="connsiteY13" fmla="*/ 6858000 h 6858000"/>
              <a:gd name="connsiteX14" fmla="*/ 0 w 11593823"/>
              <a:gd name="connsiteY14" fmla="*/ 6858000 h 6858000"/>
              <a:gd name="connsiteX15" fmla="*/ 0 w 11593823"/>
              <a:gd name="connsiteY15" fmla="*/ 0 h 6858000"/>
              <a:gd name="connsiteX0" fmla="*/ 0 w 11593823"/>
              <a:gd name="connsiteY0" fmla="*/ 0 h 6858000"/>
              <a:gd name="connsiteX1" fmla="*/ 2155010 w 11593823"/>
              <a:gd name="connsiteY1" fmla="*/ 0 h 6858000"/>
              <a:gd name="connsiteX2" fmla="*/ 11322200 w 11593823"/>
              <a:gd name="connsiteY2" fmla="*/ 0 h 6858000"/>
              <a:gd name="connsiteX3" fmla="*/ 11322198 w 11593823"/>
              <a:gd name="connsiteY3" fmla="*/ 2 h 6858000"/>
              <a:gd name="connsiteX4" fmla="*/ 11593823 w 11593823"/>
              <a:gd name="connsiteY4" fmla="*/ 2 h 6858000"/>
              <a:gd name="connsiteX5" fmla="*/ 11322197 w 11593823"/>
              <a:gd name="connsiteY5" fmla="*/ 4 h 6858000"/>
              <a:gd name="connsiteX6" fmla="*/ 5311608 w 11593823"/>
              <a:gd name="connsiteY6" fmla="*/ 6858000 h 6858000"/>
              <a:gd name="connsiteX7" fmla="*/ 5288856 w 11593823"/>
              <a:gd name="connsiteY7" fmla="*/ 6858000 h 6858000"/>
              <a:gd name="connsiteX8" fmla="*/ 4806770 w 11593823"/>
              <a:gd name="connsiteY8" fmla="*/ 6858000 h 6858000"/>
              <a:gd name="connsiteX9" fmla="*/ 4676142 w 11593823"/>
              <a:gd name="connsiteY9" fmla="*/ 6858000 h 6858000"/>
              <a:gd name="connsiteX10" fmla="*/ 3082273 w 11593823"/>
              <a:gd name="connsiteY10" fmla="*/ 6858000 h 6858000"/>
              <a:gd name="connsiteX11" fmla="*/ 2625273 w 11593823"/>
              <a:gd name="connsiteY11" fmla="*/ 6858000 h 6858000"/>
              <a:gd name="connsiteX12" fmla="*/ 2155010 w 11593823"/>
              <a:gd name="connsiteY12" fmla="*/ 6858000 h 6858000"/>
              <a:gd name="connsiteX13" fmla="*/ 0 w 11593823"/>
              <a:gd name="connsiteY13" fmla="*/ 6858000 h 6858000"/>
              <a:gd name="connsiteX14" fmla="*/ 0 w 11593823"/>
              <a:gd name="connsiteY14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3082273 w 11593823"/>
              <a:gd name="connsiteY9" fmla="*/ 6858000 h 6858000"/>
              <a:gd name="connsiteX10" fmla="*/ 2625273 w 11593823"/>
              <a:gd name="connsiteY10" fmla="*/ 6858000 h 6858000"/>
              <a:gd name="connsiteX11" fmla="*/ 2155010 w 11593823"/>
              <a:gd name="connsiteY11" fmla="*/ 6858000 h 6858000"/>
              <a:gd name="connsiteX12" fmla="*/ 0 w 11593823"/>
              <a:gd name="connsiteY12" fmla="*/ 6858000 h 6858000"/>
              <a:gd name="connsiteX13" fmla="*/ 0 w 11593823"/>
              <a:gd name="connsiteY13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2625273 w 11593823"/>
              <a:gd name="connsiteY9" fmla="*/ 6858000 h 6858000"/>
              <a:gd name="connsiteX10" fmla="*/ 2155010 w 11593823"/>
              <a:gd name="connsiteY10" fmla="*/ 6858000 h 6858000"/>
              <a:gd name="connsiteX11" fmla="*/ 0 w 11593823"/>
              <a:gd name="connsiteY11" fmla="*/ 6858000 h 6858000"/>
              <a:gd name="connsiteX12" fmla="*/ 0 w 11593823"/>
              <a:gd name="connsiteY12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2155010 w 11593823"/>
              <a:gd name="connsiteY9" fmla="*/ 6858000 h 6858000"/>
              <a:gd name="connsiteX10" fmla="*/ 0 w 11593823"/>
              <a:gd name="connsiteY10" fmla="*/ 6858000 h 6858000"/>
              <a:gd name="connsiteX11" fmla="*/ 0 w 11593823"/>
              <a:gd name="connsiteY11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2155010 w 11593823"/>
              <a:gd name="connsiteY9" fmla="*/ 6858000 h 6858000"/>
              <a:gd name="connsiteX10" fmla="*/ 0 w 11593823"/>
              <a:gd name="connsiteY10" fmla="*/ 6858000 h 6858000"/>
              <a:gd name="connsiteX11" fmla="*/ 0 w 11593823"/>
              <a:gd name="connsiteY11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806770 w 11593823"/>
              <a:gd name="connsiteY7" fmla="*/ 6858000 h 6858000"/>
              <a:gd name="connsiteX8" fmla="*/ 4676142 w 11593823"/>
              <a:gd name="connsiteY8" fmla="*/ 6858000 h 6858000"/>
              <a:gd name="connsiteX9" fmla="*/ 0 w 11593823"/>
              <a:gd name="connsiteY9" fmla="*/ 6858000 h 6858000"/>
              <a:gd name="connsiteX10" fmla="*/ 0 w 11593823"/>
              <a:gd name="connsiteY10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4676142 w 11593823"/>
              <a:gd name="connsiteY7" fmla="*/ 6858000 h 6858000"/>
              <a:gd name="connsiteX8" fmla="*/ 0 w 11593823"/>
              <a:gd name="connsiteY8" fmla="*/ 6858000 h 6858000"/>
              <a:gd name="connsiteX9" fmla="*/ 0 w 11593823"/>
              <a:gd name="connsiteY9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5288856 w 11593823"/>
              <a:gd name="connsiteY6" fmla="*/ 6858000 h 6858000"/>
              <a:gd name="connsiteX7" fmla="*/ 0 w 11593823"/>
              <a:gd name="connsiteY7" fmla="*/ 6858000 h 6858000"/>
              <a:gd name="connsiteX8" fmla="*/ 0 w 11593823"/>
              <a:gd name="connsiteY8" fmla="*/ 0 h 6858000"/>
              <a:gd name="connsiteX0" fmla="*/ 0 w 11593823"/>
              <a:gd name="connsiteY0" fmla="*/ 0 h 6858000"/>
              <a:gd name="connsiteX1" fmla="*/ 11322200 w 11593823"/>
              <a:gd name="connsiteY1" fmla="*/ 0 h 6858000"/>
              <a:gd name="connsiteX2" fmla="*/ 11322198 w 11593823"/>
              <a:gd name="connsiteY2" fmla="*/ 2 h 6858000"/>
              <a:gd name="connsiteX3" fmla="*/ 11593823 w 11593823"/>
              <a:gd name="connsiteY3" fmla="*/ 2 h 6858000"/>
              <a:gd name="connsiteX4" fmla="*/ 11322197 w 11593823"/>
              <a:gd name="connsiteY4" fmla="*/ 4 h 6858000"/>
              <a:gd name="connsiteX5" fmla="*/ 5311608 w 11593823"/>
              <a:gd name="connsiteY5" fmla="*/ 6858000 h 6858000"/>
              <a:gd name="connsiteX6" fmla="*/ 0 w 11593823"/>
              <a:gd name="connsiteY6" fmla="*/ 6858000 h 6858000"/>
              <a:gd name="connsiteX7" fmla="*/ 0 w 11593823"/>
              <a:gd name="connsiteY7" fmla="*/ 0 h 6858000"/>
              <a:gd name="connsiteX0" fmla="*/ 0 w 11322200"/>
              <a:gd name="connsiteY0" fmla="*/ 0 h 6858000"/>
              <a:gd name="connsiteX1" fmla="*/ 11322200 w 11322200"/>
              <a:gd name="connsiteY1" fmla="*/ 0 h 6858000"/>
              <a:gd name="connsiteX2" fmla="*/ 11322198 w 11322200"/>
              <a:gd name="connsiteY2" fmla="*/ 2 h 6858000"/>
              <a:gd name="connsiteX3" fmla="*/ 11322197 w 11322200"/>
              <a:gd name="connsiteY3" fmla="*/ 4 h 6858000"/>
              <a:gd name="connsiteX4" fmla="*/ 5311608 w 11322200"/>
              <a:gd name="connsiteY4" fmla="*/ 6858000 h 6858000"/>
              <a:gd name="connsiteX5" fmla="*/ 0 w 11322200"/>
              <a:gd name="connsiteY5" fmla="*/ 6858000 h 6858000"/>
              <a:gd name="connsiteX6" fmla="*/ 0 w 113222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22200" h="6858000">
                <a:moveTo>
                  <a:pt x="0" y="0"/>
                </a:moveTo>
                <a:lnTo>
                  <a:pt x="11322200" y="0"/>
                </a:lnTo>
                <a:lnTo>
                  <a:pt x="11322198" y="2"/>
                </a:lnTo>
                <a:cubicBezTo>
                  <a:pt x="11322198" y="3"/>
                  <a:pt x="11322197" y="3"/>
                  <a:pt x="11322197" y="4"/>
                </a:cubicBezTo>
                <a:lnTo>
                  <a:pt x="5311608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48C0B-11FD-3826-5E48-1ED8F9FD33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8274" r="21588"/>
          <a:stretch>
            <a:fillRect/>
          </a:stretch>
        </p:blipFill>
        <p:spPr>
          <a:xfrm>
            <a:off x="5318308" y="10"/>
            <a:ext cx="6873692" cy="685799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0891" y="1061686"/>
            <a:ext cx="7214624" cy="310175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Implementation of Different Scheduling Algorithms in Linux Kernel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878" y="5453796"/>
            <a:ext cx="4503409" cy="97816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900"/>
              <a:t>CSE 4300</a:t>
            </a:r>
          </a:p>
          <a:p>
            <a:pPr>
              <a:lnSpc>
                <a:spcPct val="90000"/>
              </a:lnSpc>
            </a:pPr>
            <a:r>
              <a:rPr lang="en-US" sz="900"/>
              <a:t>Jiawen Chen</a:t>
            </a:r>
          </a:p>
          <a:p>
            <a:pPr>
              <a:lnSpc>
                <a:spcPct val="90000"/>
              </a:lnSpc>
            </a:pPr>
            <a:r>
              <a:rPr lang="en-US" sz="900"/>
              <a:t>Ervin Jimenez</a:t>
            </a:r>
          </a:p>
          <a:p>
            <a:pPr>
              <a:lnSpc>
                <a:spcPct val="90000"/>
              </a:lnSpc>
            </a:pPr>
            <a:r>
              <a:rPr lang="en-US" sz="900"/>
              <a:t>Jesse Kuhns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B1C5DD-CB08-4407-9D12-CC2C42B04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606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4D65-402F-D4E7-CF8B-1F8A8415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00C10-8509-D88B-6EB2-3D50CCB2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team decided to explore the different algorithms mentioned in the lecture, and decided to try to implement them in the </a:t>
            </a:r>
            <a:r>
              <a:rPr lang="en-US" err="1"/>
              <a:t>linux</a:t>
            </a:r>
            <a:r>
              <a:rPr lang="en-US"/>
              <a:t> kernel and visualize how each perform compared to each other with data.</a:t>
            </a:r>
          </a:p>
        </p:txBody>
      </p:sp>
    </p:spTree>
    <p:extLst>
      <p:ext uri="{BB962C8B-B14F-4D97-AF65-F5344CB8AC3E}">
        <p14:creationId xmlns:p14="http://schemas.microsoft.com/office/powerpoint/2010/main" val="88877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A95F3-0880-5199-2880-0ED36CFFE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291" y="872935"/>
            <a:ext cx="9905999" cy="1360898"/>
          </a:xfrm>
        </p:spPr>
        <p:txBody>
          <a:bodyPr/>
          <a:lstStyle/>
          <a:p>
            <a:r>
              <a:rPr lang="en-US"/>
              <a:t>Before we start: Linux's Default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F9C3A-035D-8585-816E-C623F7D46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Modular scheduler called Completely Fair Scheduler</a:t>
            </a:r>
          </a:p>
          <a:p>
            <a:r>
              <a:rPr lang="en-US"/>
              <a:t>A </a:t>
            </a:r>
            <a:r>
              <a:rPr lang="en-US" err="1"/>
              <a:t>core.c</a:t>
            </a:r>
            <a:r>
              <a:rPr lang="en-US"/>
              <a:t> to handle scheduling, interrupts and context switches, calls different scheduler classes files ( in the kernel/sched folder) to see which task to run next. </a:t>
            </a:r>
          </a:p>
          <a:p>
            <a:r>
              <a:rPr lang="en-US"/>
              <a:t>FCFS and Shortest Job First are not implemented in default </a:t>
            </a:r>
            <a:r>
              <a:rPr lang="en-US" err="1"/>
              <a:t>linux</a:t>
            </a:r>
            <a:r>
              <a:rPr lang="en-US"/>
              <a:t> kernel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64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98E1-DD0C-7697-8FC5-6C9B5F98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B99B-2F20-6550-66BA-2A127A8E1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Algorithms Implemented </a:t>
            </a:r>
          </a:p>
          <a:p>
            <a:r>
              <a:rPr lang="en-US"/>
              <a:t>Testing Methods </a:t>
            </a:r>
          </a:p>
          <a:p>
            <a:r>
              <a:rPr lang="en-US"/>
              <a:t>Linux Kernel Implementation </a:t>
            </a:r>
          </a:p>
          <a:p>
            <a:r>
              <a:rPr lang="en-US"/>
              <a:t>EBPF Implementation</a:t>
            </a:r>
          </a:p>
          <a:p>
            <a:r>
              <a:rPr lang="en-US"/>
              <a:t>Testing results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6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8DBE-F7B1-59C3-B638-489D2D08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92591-D6D9-7A3C-01A1-CDA89BA6F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About the test script for the scheduler: how is efficiency measured? How many processes are run? 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5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D0CF-D489-902B-6973-99F6424A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B27A-A2AF-5DDA-FFDB-BB87345A9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FCFS</a:t>
            </a:r>
          </a:p>
          <a:p>
            <a:r>
              <a:rPr lang="en-US"/>
              <a:t>Priority</a:t>
            </a:r>
          </a:p>
          <a:p>
            <a:r>
              <a:rPr lang="en-US"/>
              <a:t>Round Robin</a:t>
            </a:r>
          </a:p>
          <a:p>
            <a:r>
              <a:rPr lang="en-US"/>
              <a:t>Shortest Job First</a:t>
            </a:r>
          </a:p>
        </p:txBody>
      </p:sp>
    </p:spTree>
    <p:extLst>
      <p:ext uri="{BB962C8B-B14F-4D97-AF65-F5344CB8AC3E}">
        <p14:creationId xmlns:p14="http://schemas.microsoft.com/office/powerpoint/2010/main" val="260858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9CF50-DB8E-355B-9911-626A8A57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FB2D-4779-2D51-5710-03CC4261F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380355"/>
            <a:ext cx="9905999" cy="1360898"/>
          </a:xfrm>
        </p:spPr>
        <p:txBody>
          <a:bodyPr/>
          <a:lstStyle/>
          <a:p>
            <a:pPr algn="ctr"/>
            <a:r>
              <a:rPr lang="en-US"/>
              <a:t>Algorithm : FCFS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6EB254-32AD-D975-8D61-7E72EFEE9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" y="627553"/>
            <a:ext cx="12056253" cy="623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7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0A41E-86E9-2862-E51E-E88D22D5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4763-2046-B7B9-523E-A423D400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380355"/>
            <a:ext cx="9905999" cy="1360898"/>
          </a:xfrm>
        </p:spPr>
        <p:txBody>
          <a:bodyPr/>
          <a:lstStyle/>
          <a:p>
            <a:pPr algn="ctr"/>
            <a:r>
              <a:rPr lang="en-US"/>
              <a:t>Algorithm : Priority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D5D8C0-C387-6777-1C1A-97F836BA5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406"/>
            <a:ext cx="12192000" cy="623881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45BA7-AE60-DF97-4484-7BAED7466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4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5E97-1279-F925-5A96-3A265FB0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702E-57CD-E732-BAAF-550FD508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380355"/>
            <a:ext cx="9905999" cy="1360898"/>
          </a:xfrm>
        </p:spPr>
        <p:txBody>
          <a:bodyPr/>
          <a:lstStyle/>
          <a:p>
            <a:pPr algn="ctr"/>
            <a:r>
              <a:rPr lang="en-US"/>
              <a:t>Algorithm : RR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AAEEFF-B125-CE3B-325A-D43B19EDC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" y="627553"/>
            <a:ext cx="12056253" cy="6234117"/>
          </a:xfrm>
          <a:prstGeom prst="rect">
            <a:avLst/>
          </a:prstGeom>
        </p:spPr>
      </p:pic>
      <p:pic>
        <p:nvPicPr>
          <p:cNvPr id="3" name="Picture 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E6E172D7-D7C8-87BC-C8A2-1FA66C718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0575"/>
            <a:ext cx="12192000" cy="631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82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46AF-4160-75C3-C41C-1431A836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80A9-9229-E765-0B3F-F66D5156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380355"/>
            <a:ext cx="9905999" cy="1360898"/>
          </a:xfrm>
        </p:spPr>
        <p:txBody>
          <a:bodyPr/>
          <a:lstStyle/>
          <a:p>
            <a:pPr algn="ctr"/>
            <a:r>
              <a:rPr lang="en-US"/>
              <a:t>Algorithm : SJF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A504CD-2E13-EC79-7E1D-335926865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" y="627553"/>
            <a:ext cx="12056253" cy="6234117"/>
          </a:xfrm>
          <a:prstGeom prst="rect">
            <a:avLst/>
          </a:prstGeom>
        </p:spPr>
      </p:pic>
      <p:pic>
        <p:nvPicPr>
          <p:cNvPr id="3" name="Picture 2" descr="A screenshot of a calendar&#10;&#10;AI-generated content may be incorrect.">
            <a:extLst>
              <a:ext uri="{FF2B5EF4-FFF2-40B4-BE49-F238E27FC236}">
                <a16:creationId xmlns:a16="http://schemas.microsoft.com/office/drawing/2014/main" id="{2670F0D1-0987-6A0C-AE05-CB33A0534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022"/>
            <a:ext cx="12192000" cy="623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39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CB6F-E664-D3D5-15A2-AE293040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4D91-29D8-1D3A-2BD3-106F81F67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380355"/>
            <a:ext cx="9905999" cy="1360898"/>
          </a:xfrm>
        </p:spPr>
        <p:txBody>
          <a:bodyPr/>
          <a:lstStyle/>
          <a:p>
            <a:pPr algn="ctr"/>
            <a:r>
              <a:rPr lang="en-US"/>
              <a:t>Results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F729C-7B3A-3075-2C6D-9186AD8F1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2" y="627553"/>
            <a:ext cx="12056253" cy="6234117"/>
          </a:xfrm>
          <a:prstGeom prst="rect">
            <a:avLst/>
          </a:prstGeom>
        </p:spPr>
      </p:pic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1B015B6-C97E-ADAF-E16C-06420CA7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559"/>
            <a:ext cx="12192000" cy="622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19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2A4F-BFEA-913D-1378-1F4C431B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Linux Kernel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45AA1-10DE-C60C-D482-C69E90F7E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Actually putting the algorithms to use in the Linux Kernel requires modifications to the kernel files. </a:t>
            </a:r>
          </a:p>
          <a:p>
            <a:r>
              <a:rPr lang="en-US"/>
              <a:t>Our team has found two ways : modifying many individual files in the </a:t>
            </a:r>
            <a:r>
              <a:rPr lang="en-US" err="1"/>
              <a:t>linux</a:t>
            </a:r>
            <a:r>
              <a:rPr lang="en-US"/>
              <a:t> kernel, and a safer, more efficient method of using EBPF</a:t>
            </a:r>
          </a:p>
        </p:txBody>
      </p:sp>
    </p:spTree>
    <p:extLst>
      <p:ext uri="{BB962C8B-B14F-4D97-AF65-F5344CB8AC3E}">
        <p14:creationId xmlns:p14="http://schemas.microsoft.com/office/powerpoint/2010/main" val="376371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9E51-B982-0B3C-B5E1-5FDEDB98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Linux Kernel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E5355-C2ED-0AF9-3452-938FA5A61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,Sans-Serif" panose="020B0604020202020204" pitchFamily="34" charset="0"/>
              <a:buChar char="-"/>
            </a:pPr>
            <a:r>
              <a:rPr lang="en-US"/>
              <a:t>Requires thousands of lines of code</a:t>
            </a:r>
          </a:p>
          <a:p>
            <a:pPr marL="514350" lvl="1" indent="-285750">
              <a:buFont typeface="Calibri,Sans-Serif" panose="020B0604020202020204" pitchFamily="34" charset="0"/>
              <a:buChar char="-"/>
            </a:pPr>
            <a:r>
              <a:rPr lang="en-US" i="0" err="1"/>
              <a:t>rt.c</a:t>
            </a:r>
            <a:r>
              <a:rPr lang="en-US" i="0"/>
              <a:t>, the scheduling class for just FIFO and RR, is 2,938 lines long</a:t>
            </a:r>
          </a:p>
          <a:p>
            <a:pPr marL="514350" lvl="1" indent="-285750">
              <a:buFont typeface="Calibri,Sans-Serif" panose="020B0604020202020204" pitchFamily="34" charset="0"/>
              <a:buChar char="-"/>
            </a:pPr>
            <a:r>
              <a:rPr lang="en-US" i="0" err="1"/>
              <a:t>sched.h</a:t>
            </a:r>
            <a:r>
              <a:rPr lang="en-US" i="0"/>
              <a:t>, the header file for scheduler types and methods, is 3,903 lines</a:t>
            </a:r>
            <a:endParaRPr lang="en-US"/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Changes made directly to the kernel are very risky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Work can be reduced by piggybacking off existing schedulers</a:t>
            </a:r>
          </a:p>
          <a:p>
            <a:pPr lvl="2">
              <a:buFont typeface="Calibri"/>
              <a:buChar char="-"/>
            </a:pPr>
            <a:r>
              <a:rPr lang="en-US"/>
              <a:t>Still a mammoth undertaking!</a:t>
            </a:r>
          </a:p>
          <a:p>
            <a:pPr lvl="2">
              <a:buFont typeface="Calibri"/>
              <a:buChar char="-"/>
            </a:pPr>
            <a:r>
              <a:rPr lang="en-US"/>
              <a:t>You need to know how it works to know what to take</a:t>
            </a:r>
          </a:p>
        </p:txBody>
      </p:sp>
    </p:spTree>
    <p:extLst>
      <p:ext uri="{BB962C8B-B14F-4D97-AF65-F5344CB8AC3E}">
        <p14:creationId xmlns:p14="http://schemas.microsoft.com/office/powerpoint/2010/main" val="374383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FFE5-AFB0-8E1F-BAAC-23334C24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Linux Kernel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96171-0F89-469B-EE82-CA89CFEB9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Requires changes to files in the kernel/sched/ directory, </a:t>
            </a:r>
          </a:p>
          <a:p>
            <a:r>
              <a:rPr lang="en-US"/>
              <a:t>Mainly, changes to </a:t>
            </a:r>
            <a:r>
              <a:rPr lang="en-US" err="1"/>
              <a:t>core.c</a:t>
            </a:r>
            <a:r>
              <a:rPr lang="en-US"/>
              <a:t>, </a:t>
            </a:r>
            <a:r>
              <a:rPr lang="en-US" err="1"/>
              <a:t>sched.h</a:t>
            </a:r>
            <a:r>
              <a:rPr lang="en-US"/>
              <a:t>, and </a:t>
            </a:r>
            <a:r>
              <a:rPr lang="en-US" err="1"/>
              <a:t>fair.c</a:t>
            </a:r>
            <a:r>
              <a:rPr lang="en-US"/>
              <a:t> </a:t>
            </a:r>
          </a:p>
          <a:p>
            <a:r>
              <a:rPr lang="en-US"/>
              <a:t>Status changes are made in </a:t>
            </a:r>
            <a:r>
              <a:rPr lang="en-US" err="1"/>
              <a:t>sched.h</a:t>
            </a:r>
            <a:r>
              <a:rPr lang="en-US"/>
              <a:t> in /include/</a:t>
            </a:r>
            <a:r>
              <a:rPr lang="en-US" err="1"/>
              <a:t>linux</a:t>
            </a:r>
            <a:r>
              <a:rPr lang="en-US"/>
              <a:t>/</a:t>
            </a:r>
            <a:r>
              <a:rPr lang="en-US" err="1"/>
              <a:t>sched.h</a:t>
            </a:r>
            <a:r>
              <a:rPr lang="en-US"/>
              <a:t> so that arrival time can be recorded for tasks marked as using the desired scheduling algorithm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4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FFE8-8B7A-203E-0CE2-75A3B154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eBPF</a:t>
            </a:r>
            <a:r>
              <a:rPr lang="en-US"/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359EA-326C-3165-B45D-27D56281B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/>
              <a:t>Significantly more straightforward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Allows you to leverage existing infrastructure in a safer, easier way</a:t>
            </a:r>
          </a:p>
          <a:p>
            <a:pPr lvl="2">
              <a:buFont typeface="Calibri" panose="020B0604020202020204" pitchFamily="34" charset="0"/>
              <a:buChar char="-"/>
            </a:pPr>
            <a:r>
              <a:rPr lang="en-US"/>
              <a:t>Extensible scheduler class (</a:t>
            </a:r>
            <a:r>
              <a:rPr lang="en-US" err="1"/>
              <a:t>sched_ext</a:t>
            </a:r>
            <a:r>
              <a:rPr lang="en-US"/>
              <a:t>)</a:t>
            </a:r>
            <a:endParaRPr lang="en-US" i="0"/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Schedulers can be written in dozens of lines of code, rather than thousands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To use it, all you have to do is compile it with clang, and register it with the kernel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Once running, they keep working until you manually stop them</a:t>
            </a:r>
          </a:p>
        </p:txBody>
      </p:sp>
      <p:pic>
        <p:nvPicPr>
          <p:cNvPr id="4" name="Picture 3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FD67710F-5029-C297-577B-BCBD31E06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30" t="2295" r="77" b="-676"/>
          <a:stretch>
            <a:fillRect/>
          </a:stretch>
        </p:blipFill>
        <p:spPr>
          <a:xfrm>
            <a:off x="5032" y="5354907"/>
            <a:ext cx="4962350" cy="1499817"/>
          </a:xfrm>
          <a:prstGeom prst="rect">
            <a:avLst/>
          </a:prstGeom>
        </p:spPr>
      </p:pic>
      <p:pic>
        <p:nvPicPr>
          <p:cNvPr id="5" name="Picture 4" descr="A close up of a text&#10;&#10;AI-generated content may be incorrect.">
            <a:extLst>
              <a:ext uri="{FF2B5EF4-FFF2-40B4-BE49-F238E27FC236}">
                <a16:creationId xmlns:a16="http://schemas.microsoft.com/office/drawing/2014/main" id="{D7FAF15B-C612-C32A-83E0-4209C2459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463" y="6103938"/>
            <a:ext cx="7216775" cy="7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3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6E44F829-E6E9-A963-DDF5-6A74CA038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429" y="4112583"/>
            <a:ext cx="8013700" cy="2749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EF8EA-B4EA-F6DB-6ECC-F1AD5B75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Schedulers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A9F3-970B-45E6-542C-7879BCEC8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CFS – Completely Fair Scheduler – The default Linux scheduler</a:t>
            </a:r>
          </a:p>
          <a:p>
            <a:r>
              <a:rPr lang="en-US"/>
              <a:t>RR – Round Robin – Tasks can run until their time slice expires</a:t>
            </a:r>
          </a:p>
          <a:p>
            <a:r>
              <a:rPr lang="en-US"/>
              <a:t>FIFO – First in, First out – Tasks run in order and to completion</a:t>
            </a:r>
          </a:p>
          <a:p>
            <a:r>
              <a:rPr lang="en-US"/>
              <a:t>Prio – Priority Queue – Tasks are given a priority when they're </a:t>
            </a:r>
            <a:r>
              <a:rPr lang="en-US" err="1"/>
              <a:t>enqueud</a:t>
            </a:r>
            <a:endParaRPr lang="en-US"/>
          </a:p>
          <a:p>
            <a:r>
              <a:rPr lang="en-US"/>
              <a:t>Testing was done with</a:t>
            </a:r>
            <a:br>
              <a:rPr lang="en-US"/>
            </a:br>
            <a:r>
              <a:rPr lang="en-US"/>
              <a:t>the stress-ng --matrix tool</a:t>
            </a:r>
          </a:p>
          <a:p>
            <a:pPr lvl="1" indent="-228600"/>
            <a:r>
              <a:rPr lang="en-US" i="0"/>
              <a:t> - Performs millions of </a:t>
            </a:r>
            <a:br>
              <a:rPr lang="en-US" i="0"/>
            </a:br>
            <a:r>
              <a:rPr lang="en-US" i="0"/>
              <a:t>floating point operations</a:t>
            </a:r>
          </a:p>
          <a:p>
            <a:pPr lvl="1" indent="-285750"/>
            <a:r>
              <a:rPr lang="en-US" i="0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1880655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F2AB-00C6-6CE9-0452-2083DBEF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Results 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986E32C-B13E-EABA-718D-BF47F93F66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3484017"/>
              </p:ext>
            </p:extLst>
          </p:nvPr>
        </p:nvGraphicFramePr>
        <p:xfrm>
          <a:off x="3175" y="2327275"/>
          <a:ext cx="5803900" cy="4533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121C8F3-3C39-78B3-524D-2D123C013638}"/>
              </a:ext>
              <a:ext uri="{147F2762-F138-4A5C-976F-8EAC2B608ADB}">
                <a16:predDERef xmlns:a16="http://schemas.microsoft.com/office/drawing/2014/main" pred="{0986E32C-B13E-EABA-718D-BF47F93F66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8263909"/>
              </p:ext>
            </p:extLst>
          </p:nvPr>
        </p:nvGraphicFramePr>
        <p:xfrm>
          <a:off x="5807075" y="2327275"/>
          <a:ext cx="6388100" cy="4533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13159018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RegattaVTI</vt:lpstr>
      <vt:lpstr>Implementation of Different Scheduling Algorithms in Linux Kernel</vt:lpstr>
      <vt:lpstr>Goal</vt:lpstr>
      <vt:lpstr>Before we start: Linux's Default Scheduler</vt:lpstr>
      <vt:lpstr>Presentation Overview</vt:lpstr>
      <vt:lpstr>Testing Methods</vt:lpstr>
      <vt:lpstr>Algorithms </vt:lpstr>
      <vt:lpstr>Algorithm : FCFS</vt:lpstr>
      <vt:lpstr>Algorithm : Priority</vt:lpstr>
      <vt:lpstr>Algorithm : RR</vt:lpstr>
      <vt:lpstr>Algorithm : SJF</vt:lpstr>
      <vt:lpstr>Results</vt:lpstr>
      <vt:lpstr>Linux Kernel Implementation</vt:lpstr>
      <vt:lpstr>Linux Kernel Implementation</vt:lpstr>
      <vt:lpstr>Linux Kernel Implementation</vt:lpstr>
      <vt:lpstr>eBPF Implementation</vt:lpstr>
      <vt:lpstr>Schedulers tested</vt:lpstr>
      <vt:lpstr>Testing Results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2025-11-14T22:11:16Z</dcterms:created>
  <dcterms:modified xsi:type="dcterms:W3CDTF">2025-11-16T04:46:16Z</dcterms:modified>
</cp:coreProperties>
</file>